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1031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2402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EC4B6"/>
                </a:solidFill>
                <a:latin typeface="Calibri"/>
              </a:rPr>
              <a:t>Identifying and prioritizing what's actually driving customer dissatisfaction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38912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7,500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Survey responses analyzed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438912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Aug–Oct 2026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Period covered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438912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3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Channels: chat, email, voice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389120"/>
            <a:ext cx="2651760" cy="868680"/>
          </a:xfrm>
          <a:prstGeom prst="roundRect">
            <a:avLst/>
          </a:prstGeom>
          <a:solidFill>
            <a:srgbClr val="2B3C5E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2EC4B6"/>
                </a:solidFill>
                <a:latin typeface="Calibri"/>
              </a:rPr>
              <a:t>12 / 42</a:t>
            </a:r>
          </a:p>
          <a:p>
            <a:pPr algn="ctr"/>
            <a:r>
              <a:rPr sz="1050">
                <a:solidFill>
                  <a:srgbClr val="D7DEE8"/>
                </a:solidFill>
                <a:latin typeface="Calibri"/>
              </a:rPr>
              <a:t>Primary / secondary drivers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AB"/>
                </a:solidFill>
                <a:latin typeface="Calibri"/>
              </a:rPr>
              <a:t>Data Analytics Consulting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CSAT scores are down, and leadership needs to know WHY - not just that satisfaction has slipped, but which specific, fixable issue is driving it.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Thousands of open-text survey responses arrive across chat, email and voice every month - too much volume to read by hand, but too much nuance for a dashboard number alone.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systematically tag every response against a known root-cause taxonomy, score its sentiment, and roll everything up into a ranked, actionable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vague “customer sentiment is down” finding can't be acted on. A ranked, named driver - “Duplicate billing charges, concentrated in the Postpaid LoB” - can go straight to the team that owns the fix, with a number attached to track whether the fix is working.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7,500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Survey responses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 (chat/email/voice)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Telecom circles covered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01 Aug – 31 Oct 2026: date, unique response ID, channel, line of business, the customer's own words (verbatim), CSAT score (1-5)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Who handled it: agent, team lead, manager - and customer-master fields a survey platform routinely carries: plan tier (5 tiers) and telecom circle (23 circles, all-India)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CHANNEL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4929981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4341" y="4800600"/>
            <a:ext cx="3773655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7996" y="4800600"/>
            <a:ext cx="2177722" cy="41148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Voice: 45%</a:t>
            </a:r>
          </a:p>
        </p:txBody>
      </p:sp>
      <p:sp>
        <p:nvSpPr>
          <p:cNvPr id="23" name="Oval 22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Chat: 35%</a:t>
            </a:r>
          </a:p>
        </p:txBody>
      </p:sp>
      <p:sp>
        <p:nvSpPr>
          <p:cNvPr id="25" name="Oval 24"/>
          <p:cNvSpPr/>
          <p:nvPr/>
        </p:nvSpPr>
        <p:spPr>
          <a:xfrm>
            <a:off x="5623560" y="5321808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Email: 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08660.0" y="1851660.0"/>
            <a:ext cx="10744200.0" cy="0.0"/>
          </a:xfrm>
          <a:prstGeom prst="line">
            <a:avLst/>
          </a:prstGeom>
          <a:ln w="25400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330452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1. Bootstrap dictionary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Sentiment-split term frequency surfaces the words that actually distinguish low-CSAT from high-CSAT text.</a:t>
            </a:r>
          </a:p>
        </p:txBody>
      </p:sp>
      <p:sp>
        <p:nvSpPr>
          <p:cNvPr id="9" name="Oval 8"/>
          <p:cNvSpPr/>
          <p:nvPr/>
        </p:nvSpPr>
        <p:spPr>
          <a:xfrm>
            <a:off x="3579876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2. Tag drivers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6624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Every response matched against an 11-category primary / 42-sub-issue taxonomy, ranked by match strength.</a:t>
            </a:r>
          </a:p>
        </p:txBody>
      </p:sp>
      <p:sp>
        <p:nvSpPr>
          <p:cNvPr id="12" name="Oval 11"/>
          <p:cNvSpPr/>
          <p:nvPr/>
        </p:nvSpPr>
        <p:spPr>
          <a:xfrm>
            <a:off x="5829300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3. NMF safety 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TF-IDF + NMF topic modeling (YAKE-labeled) catches any edge-of-
vocabulary residual - no response left unexplained.</a:t>
            </a:r>
          </a:p>
        </p:txBody>
      </p:sp>
      <p:sp>
        <p:nvSpPr>
          <p:cNvPr id="15" name="Oval 14"/>
          <p:cNvSpPr/>
          <p:nvPr/>
        </p:nvSpPr>
        <p:spPr>
          <a:xfrm>
            <a:off x="8078724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4. Score sentiment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VADER lexicon model scores tone - fully offline, no AI/LLM API dependency.</a:t>
            </a:r>
          </a:p>
        </p:txBody>
      </p:sp>
      <p:sp>
        <p:nvSpPr>
          <p:cNvPr id="18" name="Oval 17"/>
          <p:cNvSpPr/>
          <p:nvPr/>
        </p:nvSpPr>
        <p:spPr>
          <a:xfrm>
            <a:off x="10328148" y="1600200"/>
            <a:ext cx="502920" cy="5029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54896" y="2240280"/>
            <a:ext cx="22494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B2A4A"/>
                </a:solidFill>
                <a:latin typeface="Calibri"/>
              </a:rPr>
              <a:t>5. Publish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896" y="2633472"/>
            <a:ext cx="22494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One Excel workbook (tagged data + every chart) plus a Power BI report for the business narrative.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21%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2.86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2.78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Lowest avg CSAT: North East circle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CSAT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681618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75978" y="3429000"/>
            <a:ext cx="1313614" cy="41148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89592" y="3429000"/>
            <a:ext cx="2125406" cy="41148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39502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04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Promoters (4-5): 33%</a:t>
            </a:r>
          </a:p>
        </p:txBody>
      </p:sp>
      <p:sp>
        <p:nvSpPr>
          <p:cNvPr id="19" name="Oval 18"/>
          <p:cNvSpPr/>
          <p:nvPr/>
        </p:nvSpPr>
        <p:spPr>
          <a:xfrm>
            <a:off x="3108960" y="3950208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3904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Neutral (3): 26%</a:t>
            </a:r>
          </a:p>
        </p:txBody>
      </p:sp>
      <p:sp>
        <p:nvSpPr>
          <p:cNvPr id="21" name="Oval 20"/>
          <p:cNvSpPr/>
          <p:nvPr/>
        </p:nvSpPr>
        <p:spPr>
          <a:xfrm>
            <a:off x="5623560" y="3950208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39044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Detractors (1-2): 42%</a:t>
            </a:r>
          </a:p>
        </p:txBody>
      </p:sp>
      <p:sp>
        <p:nvSpPr>
          <p:cNvPr id="23" name="Oval 22"/>
          <p:cNvSpPr/>
          <p:nvPr/>
        </p:nvSpPr>
        <p:spPr>
          <a:xfrm>
            <a:off x="6309360" y="313639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983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Billing Charges is both the highest-volume and lowest-CSAT driver (avg CSAT 2.51) - the clear priority-one fix.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40050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931920"/>
            <a:ext cx="4983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North East circle and Elite tier are the lowest-performing segments (avg CSAT 2.78 / 2.82).</a:t>
            </a:r>
          </a:p>
        </p:txBody>
      </p:sp>
      <p:sp>
        <p:nvSpPr>
          <p:cNvPr id="27" name="Oval 26"/>
          <p:cNvSpPr/>
          <p:nvPr/>
        </p:nvSpPr>
        <p:spPr>
          <a:xfrm>
            <a:off x="594360" y="51480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074920"/>
            <a:ext cx="10561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Agents with less than 6 months' tenure skew toward the lowest-CSAT bucket (&lt;6 months) - a coaching signal alongside the process fix.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Oval 2"/>
          <p:cNvSpPr/>
          <p:nvPr/>
        </p:nvSpPr>
        <p:spPr>
          <a:xfrm>
            <a:off x="594360" y="173736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B2A4A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709928"/>
            <a:ext cx="10287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Fix #1: Billing Charges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D7DEE8"/>
                </a:solidFill>
                <a:latin typeface="Calibri"/>
              </a:rPr>
              <a:t>The single biggest, lowest-scoring driver, concentrated and compounding with “Duplicate Charge” in 22% of its own complaints.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306324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B2A4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035808"/>
            <a:ext cx="10287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Fix #2: Coach agents under 6 months' tenure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D7DEE8"/>
                </a:solidFill>
                <a:latin typeface="Calibri"/>
              </a:rPr>
              <a:t>This cohort shows the weakest CSAT (&lt;6 months bucket) across the board.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438912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B2A4A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361688"/>
            <a:ext cx="10287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Next step: Validate &amp; track</a:t>
            </a:r>
          </a:p>
          <a:p>
            <a:pPr>
              <a:spcBef>
                <a:spcPts val="400"/>
              </a:spcBef>
            </a:pPr>
            <a:r>
              <a:rPr sz="1450">
                <a:solidFill>
                  <a:srgbClr val="D7DEE8"/>
                </a:solidFill>
                <a:latin typeface="Calibri"/>
              </a:rPr>
              <a:t>Validate this taxonomy against a sample of real customer verbatim, then track the top driver's weekly trend (already built into the workbook) as fixes roll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