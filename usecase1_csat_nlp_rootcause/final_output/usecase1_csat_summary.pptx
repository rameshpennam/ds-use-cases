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2788920"/>
            <a:ext cx="109728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CSAT Root-Cause &amp; Sentiment
Driver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BUSINESS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The Use Case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158191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CSAT scores are down, and leadership needs to know WHY - not just that satisfaction has slipped, but which specific, fixable issue is driving it.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9992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Thousands of open-text survey responses arrive across chat, email and voice every month - too much volume to read by hand, but too much nuance for a dashboard number alone.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441655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Objective: systematically tag every response against a known root-cause taxonomy, score its sentiment, and roll everything up into a ranked, actionable view.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508760"/>
            <a:ext cx="4023360" cy="3931920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194560"/>
            <a:ext cx="3429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202633"/>
                </a:solidFill>
                <a:latin typeface="Calibri"/>
              </a:rPr>
              <a:t>A vague “customer sentiment is down” finding can't be acted on. A ranked, named driver - “Duplicate billing charges, concentrated in the Postpaid LoB” - can go straight to the team that owns the fix, with a number attached to track whether the fix is working.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The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7,500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Survey responses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392424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92424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Channels (chat/email/voice)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0488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0488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4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Lines of business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8552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88552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23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Telecom circles covered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09067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1752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02633"/>
                </a:solidFill>
                <a:latin typeface="Calibri"/>
              </a:rPr>
              <a:t>01 Aug – 31 Oct 2026: date, unique response ID, channel, line of business, the customer's own words (verbatim), CSAT score (1-5)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36850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1188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02633"/>
                </a:solidFill>
                <a:latin typeface="Calibri"/>
              </a:rPr>
              <a:t>Who handled it: agent, team lead, manager - and customer-master fields a survey platform routinely carries: plan tier (5 tiers) and telecom circle (23 circles, all-India)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34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CHANNEL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4800600"/>
            <a:ext cx="4929981" cy="411480"/>
          </a:xfrm>
          <a:prstGeom prst="rect">
            <a:avLst/>
          </a:prstGeom>
          <a:solidFill>
            <a:srgbClr val="1B2A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524341" y="4800600"/>
            <a:ext cx="3773655" cy="411480"/>
          </a:xfrm>
          <a:prstGeom prst="rect">
            <a:avLst/>
          </a:prstGeom>
          <a:solidFill>
            <a:srgbClr val="2EC4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97996" y="4800600"/>
            <a:ext cx="2177722" cy="411480"/>
          </a:xfrm>
          <a:prstGeom prst="rect">
            <a:avLst/>
          </a:prstGeom>
          <a:solidFill>
            <a:srgbClr val="E8A8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5321808"/>
            <a:ext cx="128016" cy="128016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Voice: 45%</a:t>
            </a:r>
          </a:p>
        </p:txBody>
      </p:sp>
      <p:sp>
        <p:nvSpPr>
          <p:cNvPr id="23" name="Oval 22"/>
          <p:cNvSpPr/>
          <p:nvPr/>
        </p:nvSpPr>
        <p:spPr>
          <a:xfrm>
            <a:off x="3108960" y="5321808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Chat: 35%</a:t>
            </a:r>
          </a:p>
        </p:txBody>
      </p:sp>
      <p:sp>
        <p:nvSpPr>
          <p:cNvPr id="25" name="Oval 24"/>
          <p:cNvSpPr/>
          <p:nvPr/>
        </p:nvSpPr>
        <p:spPr>
          <a:xfrm>
            <a:off x="5623560" y="5321808"/>
            <a:ext cx="128016" cy="128016"/>
          </a:xfrm>
          <a:prstGeom prst="ellipse">
            <a:avLst/>
          </a:prstGeom>
          <a:solidFill>
            <a:srgbClr val="E8A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Email: 20%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Approach &amp; Expected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4630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9A8F"/>
                </a:solidFill>
                <a:latin typeface="Calibri"/>
              </a:rPr>
              <a:t>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1463040"/>
            <a:ext cx="3227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9A8F"/>
                </a:solidFill>
                <a:latin typeface="Calibri"/>
              </a:rPr>
              <a:t>OUTPUT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68096" y="1929384"/>
            <a:ext cx="0" cy="768096"/>
          </a:xfrm>
          <a:prstGeom prst="line">
            <a:avLst/>
          </a:prstGeom>
          <a:ln w="22225">
            <a:solidFill>
              <a:srgbClr val="DD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68096" y="2697480"/>
            <a:ext cx="0" cy="768096"/>
          </a:xfrm>
          <a:prstGeom prst="line">
            <a:avLst/>
          </a:prstGeom>
          <a:ln w="22225">
            <a:solidFill>
              <a:srgbClr val="DD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" y="3465576"/>
            <a:ext cx="0" cy="768096"/>
          </a:xfrm>
          <a:prstGeom prst="line">
            <a:avLst/>
          </a:prstGeom>
          <a:ln w="22225">
            <a:solidFill>
              <a:srgbClr val="DD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68096" y="4233672"/>
            <a:ext cx="0" cy="768096"/>
          </a:xfrm>
          <a:prstGeom prst="line">
            <a:avLst/>
          </a:prstGeom>
          <a:ln w="22225">
            <a:solidFill>
              <a:srgbClr val="DD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8096" y="5001768"/>
            <a:ext cx="0" cy="768096"/>
          </a:xfrm>
          <a:prstGeom prst="line">
            <a:avLst/>
          </a:prstGeom>
          <a:ln w="22225">
            <a:solidFill>
              <a:srgbClr val="DD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594360" y="1755648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176479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Load &amp; clean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755648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02633"/>
                </a:solidFill>
                <a:latin typeface="Calibri"/>
              </a:rPr>
              <a:t>pandas reads the 7,500-row Excel export; text is lowercased, punctuation-stripped and whitespace-collapsed so later keyword matching is spelling/case-insensitive.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755648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A clean_text column every later step reuses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2523744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3288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Bootstrap dictionary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2523744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02633"/>
                </a:solidFill>
                <a:latin typeface="Calibri"/>
              </a:rPr>
              <a:t>CountVectorizer counts how often each word/phrase appears separately in low-CSAT vs high-CSAT text; terms that skew heavily toward low-CSAT become candidate complaint keywords, each tagged by its sentiment lean.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60" y="2523744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An inspectable keyword shortlist, not a guess</a:t>
            </a:r>
          </a:p>
        </p:txBody>
      </p:sp>
      <p:sp>
        <p:nvSpPr>
          <p:cNvPr id="20" name="Oval 19"/>
          <p:cNvSpPr/>
          <p:nvPr/>
        </p:nvSpPr>
        <p:spPr>
          <a:xfrm>
            <a:off x="594360" y="3291840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3300984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Tag drivers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291840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02633"/>
                </a:solidFill>
                <a:latin typeface="Calibri"/>
              </a:rPr>
              <a:t>Each response's text is checked against every sub-issue's keyword phrases; whichever sub-issue matches the MOST distinct phrases wins - its parent category becomes the PRIMARY driver, the sub-issue itself the SECONDARY.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66760" y="3291840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A PRIMARY + actionable SECONDARY driver per row</a:t>
            </a:r>
          </a:p>
        </p:txBody>
      </p:sp>
      <p:sp>
        <p:nvSpPr>
          <p:cNvPr id="24" name="Oval 23"/>
          <p:cNvSpPr/>
          <p:nvPr/>
        </p:nvSpPr>
        <p:spPr>
          <a:xfrm>
            <a:off x="594360" y="4059936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0690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NMF safety net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4059936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02633"/>
                </a:solidFill>
                <a:latin typeface="Calibri"/>
              </a:rPr>
              <a:t>For the rare response matching no phrase, TF-IDF converts its text into a weighted-term vector; NMF (matrix factorization) decomposes that into latent topics, and YAKE picks each topic's top keyword as its label.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66760" y="4059936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Zero responses left with a blank secondary driver</a:t>
            </a:r>
          </a:p>
        </p:txBody>
      </p:sp>
      <p:sp>
        <p:nvSpPr>
          <p:cNvPr id="28" name="Oval 27"/>
          <p:cNvSpPr/>
          <p:nvPr/>
        </p:nvSpPr>
        <p:spPr>
          <a:xfrm>
            <a:off x="594360" y="4828032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837176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Score sentiment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4828032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02633"/>
                </a:solidFill>
                <a:latin typeface="Calibri"/>
              </a:rPr>
              <a:t>VADER looks up each word in a pre-built sentiment lexicon, weights negations/intensifiers, and sums to a -1..+1 compound score, bucketed into Negative/Neutral/Positive.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66760" y="4828032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A sentiment label per response, cross-checked against the CSAT score</a:t>
            </a:r>
          </a:p>
        </p:txBody>
      </p:sp>
      <p:sp>
        <p:nvSpPr>
          <p:cNvPr id="32" name="Oval 31"/>
          <p:cNvSpPr/>
          <p:nvPr/>
        </p:nvSpPr>
        <p:spPr>
          <a:xfrm>
            <a:off x="594360" y="5596128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60527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Publish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5596128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02633"/>
                </a:solidFill>
                <a:latin typeface="Calibri"/>
              </a:rPr>
              <a:t>openpyxl writes one workbook (row data + an Analysis sheet with native Excel charts); python-pptx then re-reads that SAME file to build this deck, so the numbers can never drift out of sync.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66760" y="5596128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A client-ready package, numbers always in sync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Key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2542032" cy="8229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2.86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Overall average CSAT (out of 5)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92424" y="1463040"/>
            <a:ext cx="2542032" cy="82296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92424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38%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of responses carry negative sentiment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0488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0488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2.78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Lowest avg CSAT: North East circle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8552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88552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21%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of responses: Billing Charges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63240"/>
            <a:ext cx="3514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CSAT MIX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429000"/>
            <a:ext cx="1154110" cy="320040"/>
          </a:xfrm>
          <a:prstGeom prst="rect">
            <a:avLst/>
          </a:prstGeom>
          <a:solidFill>
            <a:srgbClr val="2EC4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48470" y="3429000"/>
            <a:ext cx="901546" cy="320040"/>
          </a:xfrm>
          <a:prstGeom prst="rect">
            <a:avLst/>
          </a:prstGeom>
          <a:solidFill>
            <a:srgbClr val="E8A8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50016" y="3429000"/>
            <a:ext cx="1458687" cy="320040"/>
          </a:xfrm>
          <a:prstGeom prst="rect">
            <a:avLst/>
          </a:prstGeom>
          <a:solidFill>
            <a:srgbClr val="E05A4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4360" y="3895344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858768"/>
            <a:ext cx="3313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6B7D"/>
                </a:solidFill>
                <a:latin typeface="Calibri"/>
              </a:rPr>
              <a:t>Promoters (4-5): 33%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" y="4206240"/>
            <a:ext cx="128016" cy="128016"/>
          </a:xfrm>
          <a:prstGeom prst="ellipse">
            <a:avLst/>
          </a:prstGeom>
          <a:solidFill>
            <a:srgbClr val="E8A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4169664"/>
            <a:ext cx="3313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6B7D"/>
                </a:solidFill>
                <a:latin typeface="Calibri"/>
              </a:rPr>
              <a:t>Neutral (3): 26%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" y="4517136"/>
            <a:ext cx="128016" cy="128016"/>
          </a:xfrm>
          <a:prstGeom prst="ellipse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4480560"/>
            <a:ext cx="3313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6B7D"/>
                </a:solidFill>
                <a:latin typeface="Calibri"/>
              </a:rPr>
              <a:t>Detractors (1-2): 42%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37304" y="3063240"/>
            <a:ext cx="3514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TOP 5 PRIMARY DRIVERS</a:t>
            </a:r>
          </a:p>
        </p:txBody>
      </p:sp>
      <p:sp>
        <p:nvSpPr>
          <p:cNvPr id="24" name="Oval 23"/>
          <p:cNvSpPr/>
          <p:nvPr/>
        </p:nvSpPr>
        <p:spPr>
          <a:xfrm>
            <a:off x="4337304" y="3438144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29912" y="3410712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Billing Charges — 20.8%</a:t>
            </a:r>
          </a:p>
        </p:txBody>
      </p:sp>
      <p:sp>
        <p:nvSpPr>
          <p:cNvPr id="26" name="Oval 25"/>
          <p:cNvSpPr/>
          <p:nvPr/>
        </p:nvSpPr>
        <p:spPr>
          <a:xfrm>
            <a:off x="4337304" y="3767328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9912" y="3739896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No Issue Positive — 16.7%</a:t>
            </a:r>
          </a:p>
        </p:txBody>
      </p:sp>
      <p:sp>
        <p:nvSpPr>
          <p:cNvPr id="28" name="Oval 27"/>
          <p:cNvSpPr/>
          <p:nvPr/>
        </p:nvSpPr>
        <p:spPr>
          <a:xfrm>
            <a:off x="4337304" y="4096512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9912" y="4069080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Agent Behavior Comm — 12.2%</a:t>
            </a:r>
          </a:p>
        </p:txBody>
      </p:sp>
      <p:sp>
        <p:nvSpPr>
          <p:cNvPr id="30" name="Oval 29"/>
          <p:cNvSpPr/>
          <p:nvPr/>
        </p:nvSpPr>
        <p:spPr>
          <a:xfrm>
            <a:off x="4337304" y="4425696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9912" y="4398264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Network Connectivity — 10.3%</a:t>
            </a:r>
          </a:p>
        </p:txBody>
      </p:sp>
      <p:sp>
        <p:nvSpPr>
          <p:cNvPr id="32" name="Oval 31"/>
          <p:cNvSpPr/>
          <p:nvPr/>
        </p:nvSpPr>
        <p:spPr>
          <a:xfrm>
            <a:off x="4337304" y="4754880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9912" y="4727448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Resolution Time FCR — 9.0%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0248" y="3063240"/>
            <a:ext cx="3514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TOP 5 SECONDARY DRIVERS</a:t>
            </a:r>
          </a:p>
        </p:txBody>
      </p:sp>
      <p:sp>
        <p:nvSpPr>
          <p:cNvPr id="35" name="Oval 34"/>
          <p:cNvSpPr/>
          <p:nvPr/>
        </p:nvSpPr>
        <p:spPr>
          <a:xfrm>
            <a:off x="8080248" y="3438144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72856" y="3410712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Duplicate Charge — 4.6%</a:t>
            </a:r>
          </a:p>
        </p:txBody>
      </p:sp>
      <p:sp>
        <p:nvSpPr>
          <p:cNvPr id="37" name="Oval 36"/>
          <p:cNvSpPr/>
          <p:nvPr/>
        </p:nvSpPr>
        <p:spPr>
          <a:xfrm>
            <a:off x="8080248" y="3767328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72856" y="3739896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GST/Tax Confusion — 4.3%</a:t>
            </a:r>
          </a:p>
        </p:txBody>
      </p:sp>
      <p:sp>
        <p:nvSpPr>
          <p:cNvPr id="39" name="Oval 38"/>
          <p:cNvSpPr/>
          <p:nvPr/>
        </p:nvSpPr>
        <p:spPr>
          <a:xfrm>
            <a:off x="8080248" y="4096512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72856" y="4069080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Incorrect Late Fee — 4.2%</a:t>
            </a:r>
          </a:p>
        </p:txBody>
      </p:sp>
      <p:sp>
        <p:nvSpPr>
          <p:cNvPr id="41" name="Oval 40"/>
          <p:cNvSpPr/>
          <p:nvPr/>
        </p:nvSpPr>
        <p:spPr>
          <a:xfrm>
            <a:off x="8080248" y="4425696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72856" y="4398264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Roaming Charge Dispute — 4.0%</a:t>
            </a:r>
          </a:p>
        </p:txBody>
      </p:sp>
      <p:sp>
        <p:nvSpPr>
          <p:cNvPr id="43" name="Oval 42"/>
          <p:cNvSpPr/>
          <p:nvPr/>
        </p:nvSpPr>
        <p:spPr>
          <a:xfrm>
            <a:off x="8080248" y="4754880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72856" y="4727448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Unexplained Deduction — 3.7%</a:t>
            </a:r>
          </a:p>
        </p:txBody>
      </p:sp>
      <p:sp>
        <p:nvSpPr>
          <p:cNvPr id="45" name="Oval 44"/>
          <p:cNvSpPr/>
          <p:nvPr/>
        </p:nvSpPr>
        <p:spPr>
          <a:xfrm>
            <a:off x="594360" y="55138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" y="5440680"/>
            <a:ext cx="10561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202633"/>
                </a:solidFill>
                <a:latin typeface="Calibri"/>
              </a:rPr>
              <a:t>Agents with less than 6 months' tenure skew toward the lowest-CSAT bucket (&lt;6 months) - a coaching signal alongside the process fix.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91640"/>
            <a:ext cx="253691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32439" y="1691640"/>
            <a:ext cx="46510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WHAT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84611" y="1691640"/>
            <a:ext cx="338254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EXPECTED OUTCOME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2057400"/>
            <a:ext cx="10972800" cy="0"/>
          </a:xfrm>
          <a:prstGeom prst="line">
            <a:avLst/>
          </a:prstGeom>
          <a:ln w="12700">
            <a:solidFill>
              <a:srgbClr val="2B3C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2194560"/>
            <a:ext cx="253691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EC4B6"/>
                </a:solidFill>
                <a:latin typeface="Calibri"/>
              </a:rPr>
              <a:t>Fix #1: Billing Charges (20.8%)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2439" y="2194560"/>
            <a:ext cx="465100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20.8% of all complaints are Billing Charges, and “Duplicate Charge” alone drives 22.0% of those — fix the duplicate-charge billing defect first, not the category as a whole.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4611" y="2194560"/>
            <a:ext cx="338254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D7DEE8"/>
                </a:solidFill>
                <a:latin typeface="Calibri"/>
              </a:rPr>
              <a:t>Billing responses average 2.51 vs 2.95 everywhere else — closing that gap could lift OVERALL CSAT from 2.86 toward roughly 2.95 over time.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383280"/>
            <a:ext cx="10972800" cy="0"/>
          </a:xfrm>
          <a:prstGeom prst="line">
            <a:avLst/>
          </a:prstGeom>
          <a:ln w="6350">
            <a:solidFill>
              <a:srgbClr val="2B3C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474720"/>
            <a:ext cx="253691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EC4B6"/>
                </a:solidFill>
                <a:latin typeface="Calibri"/>
              </a:rPr>
              <a:t>Fix #2: Coach agents under 6 months (34% of roster)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2439" y="3474720"/>
            <a:ext cx="465100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Agents under 6 months' tenure are 34% of the roster but generate 47% of Agent Behavior complaints — these specific agents are driving this category, not the team broadly.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4611" y="3474720"/>
            <a:ext cx="338254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D7DEE8"/>
                </a:solidFill>
                <a:latin typeface="Calibri"/>
              </a:rPr>
              <a:t>Targeted coaching (not generic training) directly shrinks a top-3 driver by volume.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663440"/>
            <a:ext cx="10972800" cy="0"/>
          </a:xfrm>
          <a:prstGeom prst="line">
            <a:avLst/>
          </a:prstGeom>
          <a:ln w="6350">
            <a:solidFill>
              <a:srgbClr val="2B3C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754880"/>
            <a:ext cx="253691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EC4B6"/>
                </a:solidFill>
                <a:latin typeface="Calibri"/>
              </a:rPr>
              <a:t>Fix #3: Network &amp; Connectivity (10.3%)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2439" y="4754880"/>
            <a:ext cx="465100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Network &amp; Connectivity is the lowest-scoring driver of all - 2.45 avg CSAT, even worse than Billing - led by “Network Outage” in 27% of its own complaints.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4611" y="4754880"/>
            <a:ext cx="338254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D7DEE8"/>
                </a:solidFill>
                <a:latin typeface="Calibri"/>
              </a:rPr>
              <a:t>Fixing the leading network sub-issue addresses the single worst-rated driver in the data.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355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2D0"/>
                </a:solidFill>
                <a:latin typeface="Calibri"/>
              </a:rPr>
              <a:t>Data Analytics Consulting  |  Synthetic demo dataset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