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2103120"/>
            <a:ext cx="1097280" cy="635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CSAT Root-Cause &amp; Sentiment
Driver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EC4B6"/>
                </a:solidFill>
                <a:latin typeface="Calibri"/>
              </a:rPr>
              <a:t>Identifying and prioritizing what's actually driving customer dissatisfaction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4389120"/>
            <a:ext cx="2651760" cy="868680"/>
          </a:xfrm>
          <a:prstGeom prst="roundRect">
            <a:avLst/>
          </a:prstGeom>
          <a:solidFill>
            <a:srgbClr val="2B3C5E"/>
          </a:solidFill>
          <a:ln w="127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2EC4B6"/>
                </a:solidFill>
                <a:latin typeface="Calibri"/>
              </a:rPr>
              <a:t>7,500</a:t>
            </a:r>
          </a:p>
          <a:p>
            <a:pPr algn="ctr"/>
            <a:r>
              <a:rPr sz="1050">
                <a:solidFill>
                  <a:srgbClr val="D7DEE8"/>
                </a:solidFill>
                <a:latin typeface="Calibri"/>
              </a:rPr>
              <a:t>Survey responses analyzed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4389120"/>
            <a:ext cx="2651760" cy="868680"/>
          </a:xfrm>
          <a:prstGeom prst="roundRect">
            <a:avLst/>
          </a:prstGeom>
          <a:solidFill>
            <a:srgbClr val="2B3C5E"/>
          </a:solidFill>
          <a:ln w="127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2EC4B6"/>
                </a:solidFill>
                <a:latin typeface="Calibri"/>
              </a:rPr>
              <a:t>Aug–Oct 2026</a:t>
            </a:r>
          </a:p>
          <a:p>
            <a:pPr algn="ctr"/>
            <a:r>
              <a:rPr sz="1050">
                <a:solidFill>
                  <a:srgbClr val="D7DEE8"/>
                </a:solidFill>
                <a:latin typeface="Calibri"/>
              </a:rPr>
              <a:t>Period covered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4389120"/>
            <a:ext cx="2651760" cy="868680"/>
          </a:xfrm>
          <a:prstGeom prst="roundRect">
            <a:avLst/>
          </a:prstGeom>
          <a:solidFill>
            <a:srgbClr val="2B3C5E"/>
          </a:solidFill>
          <a:ln w="127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2EC4B6"/>
                </a:solidFill>
                <a:latin typeface="Calibri"/>
              </a:rPr>
              <a:t>3</a:t>
            </a:r>
          </a:p>
          <a:p>
            <a:pPr algn="ctr"/>
            <a:r>
              <a:rPr sz="1050">
                <a:solidFill>
                  <a:srgbClr val="D7DEE8"/>
                </a:solidFill>
                <a:latin typeface="Calibri"/>
              </a:rPr>
              <a:t>Channels: chat, email, voice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4389120"/>
            <a:ext cx="2651760" cy="868680"/>
          </a:xfrm>
          <a:prstGeom prst="roundRect">
            <a:avLst/>
          </a:prstGeom>
          <a:solidFill>
            <a:srgbClr val="2B3C5E"/>
          </a:solidFill>
          <a:ln w="127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2EC4B6"/>
                </a:solidFill>
                <a:latin typeface="Calibri"/>
              </a:rPr>
              <a:t>12 / 42</a:t>
            </a:r>
          </a:p>
          <a:p>
            <a:pPr algn="ctr"/>
            <a:r>
              <a:rPr sz="1050">
                <a:solidFill>
                  <a:srgbClr val="D7DEE8"/>
                </a:solidFill>
                <a:latin typeface="Calibri"/>
              </a:rPr>
              <a:t>Primary / secondary drivers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7AB"/>
                </a:solidFill>
                <a:latin typeface="Calibri"/>
              </a:rPr>
              <a:t>Data Analytics Consulting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1737360" cy="29260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00" b="1">
                <a:solidFill>
                  <a:srgbClr val="1F9A8F"/>
                </a:solidFill>
                <a:latin typeface="Calibri"/>
              </a:rPr>
              <a:t>BUSINESS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The Use Case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581912"/>
            <a:ext cx="128016" cy="128016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6355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02633"/>
                </a:solidFill>
                <a:latin typeface="Calibri"/>
              </a:rPr>
              <a:t>CSAT scores are down, and leadership needs to know WHY - not just that satisfaction has slipped, but which specific, fixable issue is driving it.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2999232"/>
            <a:ext cx="128016" cy="128016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6355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02633"/>
                </a:solidFill>
                <a:latin typeface="Calibri"/>
              </a:rPr>
              <a:t>Thousands of open-text survey responses arrive across chat, email and voice every month - too much volume to read by hand, but too much nuance for a dashboard number alone.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4416552"/>
            <a:ext cx="128016" cy="128016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6355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02633"/>
                </a:solidFill>
                <a:latin typeface="Calibri"/>
              </a:rPr>
              <a:t>Objective: systematically tag every response against a known root-cause taxonomy, score its sentiment, and roll everything up into a ranked, actionable 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508760"/>
            <a:ext cx="4023360" cy="3931920"/>
          </a:xfrm>
          <a:prstGeom prst="roundRect">
            <a:avLst/>
          </a:prstGeom>
          <a:solidFill>
            <a:srgbClr val="F5F7FA"/>
          </a:solidFill>
          <a:ln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9A8F"/>
                </a:solidFill>
                <a:latin typeface="Calibri"/>
              </a:rPr>
              <a:t>WHY THIS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194560"/>
            <a:ext cx="3429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202633"/>
                </a:solidFill>
                <a:latin typeface="Calibri"/>
              </a:rPr>
              <a:t>A vague “customer sentiment is down” finding can't be acted on. A ranked, named driver - “Duplicate billing charges, concentrated in the Postpaid LoB” - can go straight to the team that owns the fix, with a number attached to track whether the fix is working.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7D"/>
                </a:solidFill>
                <a:latin typeface="Calibri"/>
              </a:rPr>
              <a:t>CSAT Root-Cause &amp; Sentiment Driver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B7D"/>
                </a:solidFill>
                <a:latin typeface="Calibri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1737360" cy="29260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00" b="1">
                <a:solidFill>
                  <a:srgbClr val="1F9A8F"/>
                </a:solidFill>
                <a:latin typeface="Calibri"/>
              </a:rPr>
              <a:t>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The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63040"/>
            <a:ext cx="2542032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45336"/>
            <a:ext cx="2542032" cy="1152144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B2A4A"/>
                </a:solidFill>
                <a:latin typeface="Calibri"/>
              </a:rPr>
              <a:t>7,500</a:t>
            </a:r>
          </a:p>
          <a:p>
            <a:pPr algn="ctr"/>
            <a:r>
              <a:rPr sz="1200">
                <a:solidFill>
                  <a:srgbClr val="5A6B7D"/>
                </a:solidFill>
                <a:latin typeface="Calibri"/>
              </a:rPr>
              <a:t>Survey responses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2424" y="1463040"/>
            <a:ext cx="2542032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92424" y="1545336"/>
            <a:ext cx="2542032" cy="1152144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B2A4A"/>
                </a:solidFill>
                <a:latin typeface="Calibri"/>
              </a:rPr>
              <a:t>3</a:t>
            </a:r>
          </a:p>
          <a:p>
            <a:pPr algn="ctr"/>
            <a:r>
              <a:rPr sz="1200">
                <a:solidFill>
                  <a:srgbClr val="5A6B7D"/>
                </a:solidFill>
                <a:latin typeface="Calibri"/>
              </a:rPr>
              <a:t>Channels (chat/email/voice)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0488" y="1463040"/>
            <a:ext cx="2542032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0488" y="1545336"/>
            <a:ext cx="2542032" cy="1152144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B2A4A"/>
                </a:solidFill>
                <a:latin typeface="Calibri"/>
              </a:rPr>
              <a:t>4</a:t>
            </a:r>
          </a:p>
          <a:p>
            <a:pPr algn="ctr"/>
            <a:r>
              <a:rPr sz="1200">
                <a:solidFill>
                  <a:srgbClr val="5A6B7D"/>
                </a:solidFill>
                <a:latin typeface="Calibri"/>
              </a:rPr>
              <a:t>Lines of business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88552" y="1463040"/>
            <a:ext cx="2542032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88552" y="1545336"/>
            <a:ext cx="2542032" cy="1152144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B2A4A"/>
                </a:solidFill>
                <a:latin typeface="Calibri"/>
              </a:rPr>
              <a:t>23</a:t>
            </a:r>
          </a:p>
          <a:p>
            <a:pPr algn="ctr"/>
            <a:r>
              <a:rPr sz="1200">
                <a:solidFill>
                  <a:srgbClr val="5A6B7D"/>
                </a:solidFill>
                <a:latin typeface="Calibri"/>
              </a:rPr>
              <a:t>Telecom circles covered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3090672"/>
            <a:ext cx="128016" cy="128016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10561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202633"/>
                </a:solidFill>
                <a:latin typeface="Calibri"/>
              </a:rPr>
              <a:t>01 Aug – 31 Oct 2026: date, unique response ID, channel, line of business, the customer's own words (verbatim), CSAT score (1-5)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685032"/>
            <a:ext cx="128016" cy="128016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11880"/>
            <a:ext cx="10561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202633"/>
                </a:solidFill>
                <a:latin typeface="Calibri"/>
              </a:rPr>
              <a:t>Who handled it: agent, team lead, manager - and customer-master fields a survey platform routinely carries: plan tier (5 tiers) and telecom circle (23 circles, all-India)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9A8F"/>
                </a:solidFill>
                <a:latin typeface="Calibri"/>
              </a:rPr>
              <a:t>CHANNEL MIX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800600"/>
            <a:ext cx="4934334" cy="411480"/>
          </a:xfrm>
          <a:prstGeom prst="rect">
            <a:avLst/>
          </a:prstGeom>
          <a:solidFill>
            <a:srgbClr val="1B2A4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28694" y="4800600"/>
            <a:ext cx="3762048" cy="411480"/>
          </a:xfrm>
          <a:prstGeom prst="rect">
            <a:avLst/>
          </a:prstGeom>
          <a:solidFill>
            <a:srgbClr val="2EC4B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90742" y="4800600"/>
            <a:ext cx="2184977" cy="411480"/>
          </a:xfrm>
          <a:prstGeom prst="rect">
            <a:avLst/>
          </a:prstGeom>
          <a:solidFill>
            <a:srgbClr val="E8A83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4360" y="5321808"/>
            <a:ext cx="128016" cy="12801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2760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D"/>
                </a:solidFill>
                <a:latin typeface="Calibri"/>
              </a:rPr>
              <a:t>Voice: 45%</a:t>
            </a:r>
          </a:p>
        </p:txBody>
      </p:sp>
      <p:sp>
        <p:nvSpPr>
          <p:cNvPr id="23" name="Oval 22"/>
          <p:cNvSpPr/>
          <p:nvPr/>
        </p:nvSpPr>
        <p:spPr>
          <a:xfrm>
            <a:off x="3108960" y="5321808"/>
            <a:ext cx="128016" cy="128016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52760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D"/>
                </a:solidFill>
                <a:latin typeface="Calibri"/>
              </a:rPr>
              <a:t>Chat: 35%</a:t>
            </a:r>
          </a:p>
        </p:txBody>
      </p:sp>
      <p:sp>
        <p:nvSpPr>
          <p:cNvPr id="25" name="Oval 24"/>
          <p:cNvSpPr/>
          <p:nvPr/>
        </p:nvSpPr>
        <p:spPr>
          <a:xfrm>
            <a:off x="5623560" y="5321808"/>
            <a:ext cx="128016" cy="128016"/>
          </a:xfrm>
          <a:prstGeom prst="ellipse">
            <a:avLst/>
          </a:prstGeom>
          <a:solidFill>
            <a:srgbClr val="E8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52760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D"/>
                </a:solidFill>
                <a:latin typeface="Calibri"/>
              </a:rPr>
              <a:t>Email: 20%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7D"/>
                </a:solidFill>
                <a:latin typeface="Calibri"/>
              </a:rPr>
              <a:t>CSAT Root-Cause &amp; Sentiment Driver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B7D"/>
                </a:solidFill>
                <a:latin typeface="Calibri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1737360" cy="29260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00" b="1">
                <a:solidFill>
                  <a:srgbClr val="1F9A8F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Approach &amp; Expected Output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08660.0" y="1851660.0"/>
            <a:ext cx="10744200.0" cy="0.0"/>
          </a:xfrm>
          <a:prstGeom prst="line">
            <a:avLst/>
          </a:prstGeom>
          <a:ln w="25400">
            <a:solidFill>
              <a:srgbClr val="DD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330452" y="1600200"/>
            <a:ext cx="502920" cy="50292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22494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1B2A4A"/>
                </a:solidFill>
                <a:latin typeface="Calibri"/>
              </a:rPr>
              <a:t>1. Bootstrap dictionary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33472"/>
            <a:ext cx="22494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6B7D"/>
                </a:solidFill>
                <a:latin typeface="Calibri"/>
              </a:rPr>
              <a:t>Sentiment-split term frequency surfaces the words that actually distinguish low-CSAT from high-CSAT text.</a:t>
            </a:r>
          </a:p>
        </p:txBody>
      </p:sp>
      <p:sp>
        <p:nvSpPr>
          <p:cNvPr id="9" name="Oval 8"/>
          <p:cNvSpPr/>
          <p:nvPr/>
        </p:nvSpPr>
        <p:spPr>
          <a:xfrm>
            <a:off x="3579876" y="1600200"/>
            <a:ext cx="502920" cy="50292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6624" y="2240280"/>
            <a:ext cx="22494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1B2A4A"/>
                </a:solidFill>
                <a:latin typeface="Calibri"/>
              </a:rPr>
              <a:t>2. Tag drivers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6624" y="2633472"/>
            <a:ext cx="22494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6B7D"/>
                </a:solidFill>
                <a:latin typeface="Calibri"/>
              </a:rPr>
              <a:t>Every response matched against an 11-category primary / 42-sub-issue taxonomy, ranked by match strength.</a:t>
            </a:r>
          </a:p>
        </p:txBody>
      </p:sp>
      <p:sp>
        <p:nvSpPr>
          <p:cNvPr id="12" name="Oval 11"/>
          <p:cNvSpPr/>
          <p:nvPr/>
        </p:nvSpPr>
        <p:spPr>
          <a:xfrm>
            <a:off x="5829300" y="1600200"/>
            <a:ext cx="502920" cy="50292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2240280"/>
            <a:ext cx="22494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1B2A4A"/>
                </a:solidFill>
                <a:latin typeface="Calibri"/>
              </a:rPr>
              <a:t>3. NMF safety 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2633472"/>
            <a:ext cx="22494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6B7D"/>
                </a:solidFill>
                <a:latin typeface="Calibri"/>
              </a:rPr>
              <a:t>TF-IDF + NMF topic modeling (YAKE-labeled) catches any edge-of-
vocabulary residual - no response left unexplained.</a:t>
            </a:r>
          </a:p>
        </p:txBody>
      </p:sp>
      <p:sp>
        <p:nvSpPr>
          <p:cNvPr id="15" name="Oval 14"/>
          <p:cNvSpPr/>
          <p:nvPr/>
        </p:nvSpPr>
        <p:spPr>
          <a:xfrm>
            <a:off x="8078724" y="1600200"/>
            <a:ext cx="502920" cy="50292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5472" y="2240280"/>
            <a:ext cx="22494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1B2A4A"/>
                </a:solidFill>
                <a:latin typeface="Calibri"/>
              </a:rPr>
              <a:t>4. Score sentiment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5472" y="2633472"/>
            <a:ext cx="22494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6B7D"/>
                </a:solidFill>
                <a:latin typeface="Calibri"/>
              </a:rPr>
              <a:t>VADER lexicon model scores tone - fully offline, no AI/LLM API dependency.</a:t>
            </a:r>
          </a:p>
        </p:txBody>
      </p:sp>
      <p:sp>
        <p:nvSpPr>
          <p:cNvPr id="18" name="Oval 17"/>
          <p:cNvSpPr/>
          <p:nvPr/>
        </p:nvSpPr>
        <p:spPr>
          <a:xfrm>
            <a:off x="10328148" y="1600200"/>
            <a:ext cx="502920" cy="50292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54896" y="2240280"/>
            <a:ext cx="22494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1B2A4A"/>
                </a:solidFill>
                <a:latin typeface="Calibri"/>
              </a:rPr>
              <a:t>5. Publish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4896" y="2633472"/>
            <a:ext cx="224942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6B7D"/>
                </a:solidFill>
                <a:latin typeface="Calibri"/>
              </a:rPr>
              <a:t>One Excel workbook (tagged data + every chart) plus a Power BI report for the business narrative.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7D"/>
                </a:solidFill>
                <a:latin typeface="Calibri"/>
              </a:rPr>
              <a:t>CSAT Root-Cause &amp; Sentiment Driver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B7D"/>
                </a:solidFill>
                <a:latin typeface="Calibri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65760"/>
            <a:ext cx="1737360" cy="29260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100" b="1">
                <a:solidFill>
                  <a:srgbClr val="1F9A8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8638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Key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63040"/>
            <a:ext cx="2542032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45336"/>
            <a:ext cx="2542032" cy="1289304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B2A4A"/>
                </a:solidFill>
                <a:latin typeface="Calibri"/>
              </a:rPr>
              <a:t>21%</a:t>
            </a:r>
          </a:p>
          <a:p>
            <a:pPr algn="ctr"/>
            <a:r>
              <a:rPr sz="1200">
                <a:solidFill>
                  <a:srgbClr val="5A6B7D"/>
                </a:solidFill>
                <a:latin typeface="Calibri"/>
              </a:rPr>
              <a:t>of responses: Billing Charges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2424" y="1463040"/>
            <a:ext cx="2542032" cy="8229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92424" y="1545336"/>
            <a:ext cx="2542032" cy="1289304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B2A4A"/>
                </a:solidFill>
                <a:latin typeface="Calibri"/>
              </a:rPr>
              <a:t>2.85</a:t>
            </a:r>
          </a:p>
          <a:p>
            <a:pPr algn="ctr"/>
            <a:r>
              <a:rPr sz="1200">
                <a:solidFill>
                  <a:srgbClr val="5A6B7D"/>
                </a:solidFill>
                <a:latin typeface="Calibri"/>
              </a:rPr>
              <a:t>Overall average CSAT (out of 5)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0488" y="1463040"/>
            <a:ext cx="2542032" cy="82296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0488" y="1545336"/>
            <a:ext cx="2542032" cy="1289304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B2A4A"/>
                </a:solidFill>
                <a:latin typeface="Calibri"/>
              </a:rPr>
              <a:t>37%</a:t>
            </a:r>
          </a:p>
          <a:p>
            <a:pPr algn="ctr"/>
            <a:r>
              <a:rPr sz="1200">
                <a:solidFill>
                  <a:srgbClr val="5A6B7D"/>
                </a:solidFill>
                <a:latin typeface="Calibri"/>
              </a:rPr>
              <a:t>of responses carry negative sentiment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88552" y="1463040"/>
            <a:ext cx="2542032" cy="82296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88552" y="1545336"/>
            <a:ext cx="2542032" cy="1289304"/>
          </a:xfrm>
          <a:prstGeom prst="rect">
            <a:avLst/>
          </a:prstGeom>
          <a:solidFill>
            <a:srgbClr val="F5F7FA"/>
          </a:solidFill>
          <a:ln w="952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B2A4A"/>
                </a:solidFill>
                <a:latin typeface="Calibri"/>
              </a:rPr>
              <a:t>2.78</a:t>
            </a:r>
          </a:p>
          <a:p>
            <a:pPr algn="ctr"/>
            <a:r>
              <a:rPr sz="1200">
                <a:solidFill>
                  <a:srgbClr val="5A6B7D"/>
                </a:solidFill>
                <a:latin typeface="Calibri"/>
              </a:rPr>
              <a:t>Lowest avg CSAT: North East circle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63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9A8F"/>
                </a:solidFill>
                <a:latin typeface="Calibri"/>
              </a:rPr>
              <a:t>CSAT MIX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429000"/>
            <a:ext cx="1676838" cy="411480"/>
          </a:xfrm>
          <a:prstGeom prst="rect">
            <a:avLst/>
          </a:prstGeom>
          <a:solidFill>
            <a:srgbClr val="2EC4B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71198" y="3429000"/>
            <a:ext cx="1314980" cy="411480"/>
          </a:xfrm>
          <a:prstGeom prst="rect">
            <a:avLst/>
          </a:prstGeom>
          <a:solidFill>
            <a:srgbClr val="E8A83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86178" y="3429000"/>
            <a:ext cx="2128820" cy="411480"/>
          </a:xfrm>
          <a:prstGeom prst="rect">
            <a:avLst/>
          </a:prstGeom>
          <a:solidFill>
            <a:srgbClr val="E05A4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4360" y="3950208"/>
            <a:ext cx="128016" cy="128016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044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D"/>
                </a:solidFill>
                <a:latin typeface="Calibri"/>
              </a:rPr>
              <a:t>Promoters (4-5): 33%</a:t>
            </a:r>
          </a:p>
        </p:txBody>
      </p:sp>
      <p:sp>
        <p:nvSpPr>
          <p:cNvPr id="19" name="Oval 18"/>
          <p:cNvSpPr/>
          <p:nvPr/>
        </p:nvSpPr>
        <p:spPr>
          <a:xfrm>
            <a:off x="3108960" y="3950208"/>
            <a:ext cx="128016" cy="128016"/>
          </a:xfrm>
          <a:prstGeom prst="ellipse">
            <a:avLst/>
          </a:prstGeom>
          <a:solidFill>
            <a:srgbClr val="E8A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39044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D"/>
                </a:solidFill>
                <a:latin typeface="Calibri"/>
              </a:rPr>
              <a:t>Neutral (3): 26%</a:t>
            </a:r>
          </a:p>
        </p:txBody>
      </p:sp>
      <p:sp>
        <p:nvSpPr>
          <p:cNvPr id="21" name="Oval 20"/>
          <p:cNvSpPr/>
          <p:nvPr/>
        </p:nvSpPr>
        <p:spPr>
          <a:xfrm>
            <a:off x="5623560" y="3950208"/>
            <a:ext cx="128016" cy="128016"/>
          </a:xfrm>
          <a:prstGeom prst="ellipse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39044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D"/>
                </a:solidFill>
                <a:latin typeface="Calibri"/>
              </a:rPr>
              <a:t>Detractors (1-2): 42%</a:t>
            </a:r>
          </a:p>
        </p:txBody>
      </p:sp>
      <p:sp>
        <p:nvSpPr>
          <p:cNvPr id="23" name="Oval 22"/>
          <p:cNvSpPr/>
          <p:nvPr/>
        </p:nvSpPr>
        <p:spPr>
          <a:xfrm>
            <a:off x="6309360" y="3136392"/>
            <a:ext cx="128016" cy="128016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3063240"/>
            <a:ext cx="4983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202633"/>
                </a:solidFill>
                <a:latin typeface="Calibri"/>
              </a:rPr>
              <a:t>Billing Charges is both the highest-volume and lowest-CSAT driver (avg CSAT 2.51) - the clear priority-one fix.</a:t>
            </a:r>
          </a:p>
        </p:txBody>
      </p:sp>
      <p:sp>
        <p:nvSpPr>
          <p:cNvPr id="25" name="Oval 24"/>
          <p:cNvSpPr/>
          <p:nvPr/>
        </p:nvSpPr>
        <p:spPr>
          <a:xfrm>
            <a:off x="6309360" y="4005072"/>
            <a:ext cx="128016" cy="128016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931920"/>
            <a:ext cx="4983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202633"/>
                </a:solidFill>
                <a:latin typeface="Calibri"/>
              </a:rPr>
              <a:t>North East circle and Standard tier are the lowest-performing segments (avg CSAT 2.78 / 2.83).</a:t>
            </a:r>
          </a:p>
        </p:txBody>
      </p:sp>
      <p:sp>
        <p:nvSpPr>
          <p:cNvPr id="27" name="Oval 26"/>
          <p:cNvSpPr/>
          <p:nvPr/>
        </p:nvSpPr>
        <p:spPr>
          <a:xfrm>
            <a:off x="594360" y="5148072"/>
            <a:ext cx="128016" cy="128016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074920"/>
            <a:ext cx="10561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202633"/>
                </a:solidFill>
                <a:latin typeface="Calibri"/>
              </a:rPr>
              <a:t>Agents with less than 6 months' tenure skew toward the lowest-CSAT bucket (&lt;6 months) - a coaching signal alongside the process fix.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7D"/>
                </a:solidFill>
                <a:latin typeface="Calibri"/>
              </a:rPr>
              <a:t>CSAT Root-Cause &amp; Sentiment Driver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739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B7D"/>
                </a:solidFill>
                <a:latin typeface="Calibri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3" name="Oval 2"/>
          <p:cNvSpPr/>
          <p:nvPr/>
        </p:nvSpPr>
        <p:spPr>
          <a:xfrm>
            <a:off x="594360" y="1737360"/>
            <a:ext cx="457200" cy="4572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709928"/>
            <a:ext cx="10287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Fix #1: Billing Charges</a:t>
            </a:r>
          </a:p>
          <a:p>
            <a:pPr>
              <a:spcBef>
                <a:spcPts val="400"/>
              </a:spcBef>
            </a:pPr>
            <a:r>
              <a:rPr sz="1450">
                <a:solidFill>
                  <a:srgbClr val="D7DEE8"/>
                </a:solidFill>
                <a:latin typeface="Calibri"/>
              </a:rPr>
              <a:t>The single biggest, lowest-scoring driver, concentrated and compounding with “Duplicate Charge” in 21% of its own complaints.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3063240"/>
            <a:ext cx="457200" cy="4572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B2A4A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035808"/>
            <a:ext cx="10287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Fix #2: Coach agents under 6 months' tenure</a:t>
            </a:r>
          </a:p>
          <a:p>
            <a:pPr>
              <a:spcBef>
                <a:spcPts val="400"/>
              </a:spcBef>
            </a:pPr>
            <a:r>
              <a:rPr sz="1450">
                <a:solidFill>
                  <a:srgbClr val="D7DEE8"/>
                </a:solidFill>
                <a:latin typeface="Calibri"/>
              </a:rPr>
              <a:t>This cohort shows the weakest CSAT (&lt;6 months bucket) across the board.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4389120"/>
            <a:ext cx="457200" cy="45720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B2A4A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361688"/>
            <a:ext cx="10287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Next step: Validate &amp; track</a:t>
            </a:r>
          </a:p>
          <a:p>
            <a:pPr>
              <a:spcBef>
                <a:spcPts val="400"/>
              </a:spcBef>
            </a:pPr>
            <a:r>
              <a:rPr sz="1450">
                <a:solidFill>
                  <a:srgbClr val="D7DEE8"/>
                </a:solidFill>
                <a:latin typeface="Calibri"/>
              </a:rPr>
              <a:t>Validate this taxonomy against a sample of real customer verbatim, then track the top driver's weekly trend (already built into the workbook) as fixes roll 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2D0"/>
                </a:solidFill>
                <a:latin typeface="Calibri"/>
              </a:rPr>
              <a:t>Data Analytics Consulting  |  Synthetic demo dataset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