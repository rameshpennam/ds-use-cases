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2788920"/>
            <a:ext cx="109728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92608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CSAT Root-Cause &amp; Sentiment
Driver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BUSINESS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Use Case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58191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CSAT scores are down, and leadership needs to know WHY - not just that satisfaction has slipped, but which specific, fixable issue is driving it.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9992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Thousands of open-text survey responses arrive across chat, email and voice every month - too much volume to read by hand, but too much nuance for a dashboard number alone.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441655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635508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02633"/>
                </a:solidFill>
                <a:latin typeface="Calibri"/>
              </a:rPr>
              <a:t>Objective: systematically tag every response against a known root-cause taxonomy, score its sentiment, and roll everything up into a ranked, actionable view.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508760"/>
            <a:ext cx="4023360" cy="3931920"/>
          </a:xfrm>
          <a:prstGeom prst="roundRect">
            <a:avLst/>
          </a:prstGeom>
          <a:solidFill>
            <a:srgbClr val="F5F7FA"/>
          </a:solidFill>
          <a:ln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94560"/>
            <a:ext cx="34290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 vague “customer sentiment is down” finding can't be acted on. A ranked, named driver - “Duplicate billing charges, concentrated in the Postpaid LoB” - can go straight to the team that owns the fix, with a number attached to track whether the fix is working.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The Data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7,500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Survey responses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Channels (chat/email/voice)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4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Lines of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15214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23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Telecom circles covered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309067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1752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01 Aug – 31 Oct 2026: date, unique response ID, channel, line of business, the customer's own words (verbatim), CSAT score (1-5)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36850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611880"/>
            <a:ext cx="10561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50" b="0" i="0">
                <a:solidFill>
                  <a:srgbClr val="202633"/>
                </a:solidFill>
                <a:latin typeface="Calibri"/>
              </a:rPr>
              <a:t>Who handled it: agent, team lead, manager - and customer-master fields a survey platform routinely carries: plan tier (5 tiers) and telecom circle (23 circles, all-India)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CHANNEL MIX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800600"/>
            <a:ext cx="4929981" cy="411480"/>
          </a:xfrm>
          <a:prstGeom prst="rect">
            <a:avLst/>
          </a:prstGeom>
          <a:solidFill>
            <a:srgbClr val="1B2A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24341" y="4800600"/>
            <a:ext cx="3773655" cy="41148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97996" y="4800600"/>
            <a:ext cx="2177722" cy="411480"/>
          </a:xfrm>
          <a:prstGeom prst="rect">
            <a:avLst/>
          </a:prstGeom>
          <a:solidFill>
            <a:srgbClr val="E8A8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4360" y="5321808"/>
            <a:ext cx="128016" cy="12801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Voice: 45%</a:t>
            </a:r>
          </a:p>
        </p:txBody>
      </p:sp>
      <p:sp>
        <p:nvSpPr>
          <p:cNvPr id="23" name="Oval 22"/>
          <p:cNvSpPr/>
          <p:nvPr/>
        </p:nvSpPr>
        <p:spPr>
          <a:xfrm>
            <a:off x="3108960" y="5321808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Chat: 35%</a:t>
            </a:r>
          </a:p>
        </p:txBody>
      </p:sp>
      <p:sp>
        <p:nvSpPr>
          <p:cNvPr id="25" name="Oval 24"/>
          <p:cNvSpPr/>
          <p:nvPr/>
        </p:nvSpPr>
        <p:spPr>
          <a:xfrm>
            <a:off x="5623560" y="5321808"/>
            <a:ext cx="128016" cy="128016"/>
          </a:xfrm>
          <a:prstGeom prst="ellipse">
            <a:avLst/>
          </a:prstGeom>
          <a:solidFill>
            <a:srgbClr val="E8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527608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A6B7D"/>
                </a:solidFill>
                <a:latin typeface="Calibri"/>
              </a:rPr>
              <a:t>Email: 20%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Approach &amp; Expected Output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371600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1353312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Load &amp; clean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1700784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8" name="Oval 7"/>
          <p:cNvSpPr/>
          <p:nvPr/>
        </p:nvSpPr>
        <p:spPr>
          <a:xfrm>
            <a:off x="667512" y="195681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019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pandas loads the 7,500-row survey export</a:t>
            </a:r>
          </a:p>
        </p:txBody>
      </p:sp>
      <p:sp>
        <p:nvSpPr>
          <p:cNvPr id="10" name="Oval 9"/>
          <p:cNvSpPr/>
          <p:nvPr/>
        </p:nvSpPr>
        <p:spPr>
          <a:xfrm>
            <a:off x="667512" y="223113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17627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Lowercase, strip punctuation, collapse whitespace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2468880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OUTPUT</a:t>
            </a:r>
          </a:p>
        </p:txBody>
      </p:sp>
      <p:sp>
        <p:nvSpPr>
          <p:cNvPr id="13" name="Oval 12"/>
          <p:cNvSpPr/>
          <p:nvPr/>
        </p:nvSpPr>
        <p:spPr>
          <a:xfrm>
            <a:off x="667512" y="2724912"/>
            <a:ext cx="82296" cy="8229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6700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02633"/>
                </a:solidFill>
                <a:latin typeface="Calibri"/>
              </a:rPr>
              <a:t>A clean_text column every later step reuses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2962656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2944368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Bootstrap dictionary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" y="3291840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18" name="Oval 17"/>
          <p:cNvSpPr/>
          <p:nvPr/>
        </p:nvSpPr>
        <p:spPr>
          <a:xfrm>
            <a:off x="667512" y="354787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9300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Split term frequency: low-CSAT vs high-CSAT text</a:t>
            </a:r>
          </a:p>
        </p:txBody>
      </p:sp>
      <p:sp>
        <p:nvSpPr>
          <p:cNvPr id="20" name="Oval 19"/>
          <p:cNvSpPr/>
          <p:nvPr/>
        </p:nvSpPr>
        <p:spPr>
          <a:xfrm>
            <a:off x="667512" y="382219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7673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Label every candidate term's sentiment lean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4059936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OUTPUT</a:t>
            </a:r>
          </a:p>
        </p:txBody>
      </p:sp>
      <p:sp>
        <p:nvSpPr>
          <p:cNvPr id="23" name="Oval 22"/>
          <p:cNvSpPr/>
          <p:nvPr/>
        </p:nvSpPr>
        <p:spPr>
          <a:xfrm>
            <a:off x="667512" y="4315968"/>
            <a:ext cx="82296" cy="8229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26110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02633"/>
                </a:solidFill>
                <a:latin typeface="Calibri"/>
              </a:rPr>
              <a:t>An inspectable keyword shortlist, not a guess</a:t>
            </a:r>
          </a:p>
        </p:txBody>
      </p:sp>
      <p:sp>
        <p:nvSpPr>
          <p:cNvPr id="25" name="Oval 24"/>
          <p:cNvSpPr/>
          <p:nvPr/>
        </p:nvSpPr>
        <p:spPr>
          <a:xfrm>
            <a:off x="594360" y="4553712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" y="4535424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Tag drivers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" y="4882896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28" name="Oval 27"/>
          <p:cNvSpPr/>
          <p:nvPr/>
        </p:nvSpPr>
        <p:spPr>
          <a:xfrm>
            <a:off x="667512" y="513892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08406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Match against 11 categories, 42 sub-issues</a:t>
            </a:r>
          </a:p>
        </p:txBody>
      </p:sp>
      <p:sp>
        <p:nvSpPr>
          <p:cNvPr id="30" name="Oval 29"/>
          <p:cNvSpPr/>
          <p:nvPr/>
        </p:nvSpPr>
        <p:spPr>
          <a:xfrm>
            <a:off x="667512" y="541324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35838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Rank matches by phrase-match strength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5650992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OUTPUT</a:t>
            </a:r>
          </a:p>
        </p:txBody>
      </p:sp>
      <p:sp>
        <p:nvSpPr>
          <p:cNvPr id="33" name="Oval 32"/>
          <p:cNvSpPr/>
          <p:nvPr/>
        </p:nvSpPr>
        <p:spPr>
          <a:xfrm>
            <a:off x="667512" y="5907024"/>
            <a:ext cx="82296" cy="8229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5216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02633"/>
                </a:solidFill>
                <a:latin typeface="Calibri"/>
              </a:rPr>
              <a:t>A PRIMARY + actionable SECONDARY driver per row</a:t>
            </a:r>
          </a:p>
        </p:txBody>
      </p:sp>
      <p:sp>
        <p:nvSpPr>
          <p:cNvPr id="35" name="Oval 34"/>
          <p:cNvSpPr/>
          <p:nvPr/>
        </p:nvSpPr>
        <p:spPr>
          <a:xfrm>
            <a:off x="6172200" y="1371600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6248" y="1353312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NMF safety net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27064" y="1700784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38" name="Oval 37"/>
          <p:cNvSpPr/>
          <p:nvPr/>
        </p:nvSpPr>
        <p:spPr>
          <a:xfrm>
            <a:off x="6245352" y="195681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190195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TF-IDF + NMF finds latent themes in leftovers</a:t>
            </a:r>
          </a:p>
        </p:txBody>
      </p:sp>
      <p:sp>
        <p:nvSpPr>
          <p:cNvPr id="40" name="Oval 39"/>
          <p:cNvSpPr/>
          <p:nvPr/>
        </p:nvSpPr>
        <p:spPr>
          <a:xfrm>
            <a:off x="6245352" y="2231136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46520" y="217627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YAKE auto-labels each theme, fully offline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27064" y="2468880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OUTPUT</a:t>
            </a:r>
          </a:p>
        </p:txBody>
      </p:sp>
      <p:sp>
        <p:nvSpPr>
          <p:cNvPr id="43" name="Oval 42"/>
          <p:cNvSpPr/>
          <p:nvPr/>
        </p:nvSpPr>
        <p:spPr>
          <a:xfrm>
            <a:off x="6245352" y="2724912"/>
            <a:ext cx="82296" cy="8229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46520" y="26700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02633"/>
                </a:solidFill>
                <a:latin typeface="Calibri"/>
              </a:rPr>
              <a:t>Zero responses left with a blank secondary driver</a:t>
            </a:r>
          </a:p>
        </p:txBody>
      </p:sp>
      <p:sp>
        <p:nvSpPr>
          <p:cNvPr id="45" name="Oval 44"/>
          <p:cNvSpPr/>
          <p:nvPr/>
        </p:nvSpPr>
        <p:spPr>
          <a:xfrm>
            <a:off x="6172200" y="2962656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6248" y="2944368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Score sentiment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27064" y="3291840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48" name="Oval 47"/>
          <p:cNvSpPr/>
          <p:nvPr/>
        </p:nvSpPr>
        <p:spPr>
          <a:xfrm>
            <a:off x="6245352" y="354787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6520" y="349300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VADER lexicon model scores tone of every row</a:t>
            </a:r>
          </a:p>
        </p:txBody>
      </p:sp>
      <p:sp>
        <p:nvSpPr>
          <p:cNvPr id="50" name="Oval 49"/>
          <p:cNvSpPr/>
          <p:nvPr/>
        </p:nvSpPr>
        <p:spPr>
          <a:xfrm>
            <a:off x="6245352" y="3822192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37673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100% offline — zero AI/LLM API dependency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27064" y="4059936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OUTPUT</a:t>
            </a:r>
          </a:p>
        </p:txBody>
      </p:sp>
      <p:sp>
        <p:nvSpPr>
          <p:cNvPr id="53" name="Oval 52"/>
          <p:cNvSpPr/>
          <p:nvPr/>
        </p:nvSpPr>
        <p:spPr>
          <a:xfrm>
            <a:off x="6245352" y="4315968"/>
            <a:ext cx="82296" cy="8229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46520" y="426110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02633"/>
                </a:solidFill>
                <a:latin typeface="Calibri"/>
              </a:rPr>
              <a:t>A Negative/Neutral/Positive label per response</a:t>
            </a:r>
          </a:p>
        </p:txBody>
      </p:sp>
      <p:sp>
        <p:nvSpPr>
          <p:cNvPr id="55" name="Oval 54"/>
          <p:cNvSpPr/>
          <p:nvPr/>
        </p:nvSpPr>
        <p:spPr>
          <a:xfrm>
            <a:off x="6172200" y="4553712"/>
            <a:ext cx="292608" cy="29260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56248" y="4535424"/>
            <a:ext cx="48280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1B2A4A"/>
                </a:solidFill>
                <a:latin typeface="Calibri"/>
              </a:rPr>
              <a:t>Publish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27064" y="4882896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F9A8F"/>
                </a:solidFill>
                <a:latin typeface="Calibri"/>
              </a:rPr>
              <a:t>APPROACH</a:t>
            </a:r>
          </a:p>
        </p:txBody>
      </p:sp>
      <p:sp>
        <p:nvSpPr>
          <p:cNvPr id="58" name="Oval 57"/>
          <p:cNvSpPr/>
          <p:nvPr/>
        </p:nvSpPr>
        <p:spPr>
          <a:xfrm>
            <a:off x="6245352" y="513892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46520" y="508406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Write one workbook: row data + Analysis sheet</a:t>
            </a:r>
          </a:p>
        </p:txBody>
      </p:sp>
      <p:sp>
        <p:nvSpPr>
          <p:cNvPr id="60" name="Oval 59"/>
          <p:cNvSpPr/>
          <p:nvPr/>
        </p:nvSpPr>
        <p:spPr>
          <a:xfrm>
            <a:off x="6245352" y="5413248"/>
            <a:ext cx="82296" cy="8229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46520" y="535838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02633"/>
                </a:solidFill>
                <a:latin typeface="Calibri"/>
              </a:rPr>
              <a:t>Build the PPT deck + Power BI report on top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27064" y="5650992"/>
            <a:ext cx="515721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B2A4A"/>
                </a:solidFill>
                <a:latin typeface="Calibri"/>
              </a:rPr>
              <a:t>OUTPUT</a:t>
            </a:r>
          </a:p>
        </p:txBody>
      </p:sp>
      <p:sp>
        <p:nvSpPr>
          <p:cNvPr id="63" name="Oval 62"/>
          <p:cNvSpPr/>
          <p:nvPr/>
        </p:nvSpPr>
        <p:spPr>
          <a:xfrm>
            <a:off x="6245352" y="5907024"/>
            <a:ext cx="82296" cy="8229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46520" y="585216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02633"/>
                </a:solidFill>
                <a:latin typeface="Calibri"/>
              </a:rPr>
              <a:t>A client-ready package, numbers always in sync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94360" y="365760"/>
            <a:ext cx="1737360" cy="292608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1F9A8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86384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A"/>
                </a:solidFill>
                <a:latin typeface="Calibri"/>
              </a:rPr>
              <a:t>Key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2542032" cy="82296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2.86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Overall average CSAT (out of 5)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92424" y="1463040"/>
            <a:ext cx="2542032" cy="82296"/>
          </a:xfrm>
          <a:prstGeom prst="rect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92424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38%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 carry negative sentiment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0488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90488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2.78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Lowest avg CSAT: North East circle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88552" y="1463040"/>
            <a:ext cx="2542032" cy="82296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88552" y="1545336"/>
            <a:ext cx="2542032" cy="1289304"/>
          </a:xfrm>
          <a:prstGeom prst="rect">
            <a:avLst/>
          </a:prstGeom>
          <a:solidFill>
            <a:srgbClr val="F5F7FA"/>
          </a:solidFill>
          <a:ln w="952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B2A4A"/>
                </a:solidFill>
                <a:latin typeface="Calibri"/>
              </a:rPr>
              <a:t>21%</a:t>
            </a:r>
          </a:p>
          <a:p>
            <a:pPr algn="ctr"/>
            <a:r>
              <a:rPr sz="1200">
                <a:solidFill>
                  <a:srgbClr val="5A6B7D"/>
                </a:solidFill>
                <a:latin typeface="Calibri"/>
              </a:rPr>
              <a:t>of responses: Billing Charges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CSAT MIX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429000"/>
            <a:ext cx="1154110" cy="320040"/>
          </a:xfrm>
          <a:prstGeom prst="rect">
            <a:avLst/>
          </a:prstGeom>
          <a:solidFill>
            <a:srgbClr val="2EC4B6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748470" y="3429000"/>
            <a:ext cx="901546" cy="320040"/>
          </a:xfrm>
          <a:prstGeom prst="rect">
            <a:avLst/>
          </a:prstGeom>
          <a:solidFill>
            <a:srgbClr val="E8A8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50016" y="3429000"/>
            <a:ext cx="1458687" cy="320040"/>
          </a:xfrm>
          <a:prstGeom prst="rect">
            <a:avLst/>
          </a:prstGeom>
          <a:solidFill>
            <a:srgbClr val="E05A4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3895344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858768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Promoters (4-5): 33%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4206240"/>
            <a:ext cx="128016" cy="128016"/>
          </a:xfrm>
          <a:prstGeom prst="ellipse">
            <a:avLst/>
          </a:prstGeom>
          <a:solidFill>
            <a:srgbClr val="E8A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4169664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Neutral (3): 26%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4517136"/>
            <a:ext cx="128016" cy="128016"/>
          </a:xfrm>
          <a:prstGeom prst="ellipse">
            <a:avLst/>
          </a:prstGeom>
          <a:solidFill>
            <a:srgbClr val="E05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4480560"/>
            <a:ext cx="331317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B7D"/>
                </a:solidFill>
                <a:latin typeface="Calibri"/>
              </a:rPr>
              <a:t>Detractors (1-2): 42%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7304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TOP 5 PRIMARY DRIVERS</a:t>
            </a:r>
          </a:p>
        </p:txBody>
      </p:sp>
      <p:sp>
        <p:nvSpPr>
          <p:cNvPr id="24" name="Oval 23"/>
          <p:cNvSpPr/>
          <p:nvPr/>
        </p:nvSpPr>
        <p:spPr>
          <a:xfrm>
            <a:off x="4337304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9912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Billing Charges — 20.8%</a:t>
            </a:r>
          </a:p>
        </p:txBody>
      </p:sp>
      <p:sp>
        <p:nvSpPr>
          <p:cNvPr id="26" name="Oval 25"/>
          <p:cNvSpPr/>
          <p:nvPr/>
        </p:nvSpPr>
        <p:spPr>
          <a:xfrm>
            <a:off x="4337304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9912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No Issue Positive — 16.7%</a:t>
            </a:r>
          </a:p>
        </p:txBody>
      </p:sp>
      <p:sp>
        <p:nvSpPr>
          <p:cNvPr id="28" name="Oval 27"/>
          <p:cNvSpPr/>
          <p:nvPr/>
        </p:nvSpPr>
        <p:spPr>
          <a:xfrm>
            <a:off x="4337304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9912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Agent Behavior Comm — 12.2%</a:t>
            </a:r>
          </a:p>
        </p:txBody>
      </p:sp>
      <p:sp>
        <p:nvSpPr>
          <p:cNvPr id="30" name="Oval 29"/>
          <p:cNvSpPr/>
          <p:nvPr/>
        </p:nvSpPr>
        <p:spPr>
          <a:xfrm>
            <a:off x="4337304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9912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Network Connectivity — 10.3%</a:t>
            </a:r>
          </a:p>
        </p:txBody>
      </p:sp>
      <p:sp>
        <p:nvSpPr>
          <p:cNvPr id="32" name="Oval 31"/>
          <p:cNvSpPr/>
          <p:nvPr/>
        </p:nvSpPr>
        <p:spPr>
          <a:xfrm>
            <a:off x="4337304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29912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Resolution Time FCR — 9.0%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0248" y="3063240"/>
            <a:ext cx="35143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9A8F"/>
                </a:solidFill>
                <a:latin typeface="Calibri"/>
              </a:rPr>
              <a:t>TOP 5 SECONDARY DRIVERS</a:t>
            </a:r>
          </a:p>
        </p:txBody>
      </p:sp>
      <p:sp>
        <p:nvSpPr>
          <p:cNvPr id="35" name="Oval 34"/>
          <p:cNvSpPr/>
          <p:nvPr/>
        </p:nvSpPr>
        <p:spPr>
          <a:xfrm>
            <a:off x="8080248" y="3438144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72856" y="3410712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Duplicate Charge — 4.6%</a:t>
            </a:r>
          </a:p>
        </p:txBody>
      </p:sp>
      <p:sp>
        <p:nvSpPr>
          <p:cNvPr id="37" name="Oval 36"/>
          <p:cNvSpPr/>
          <p:nvPr/>
        </p:nvSpPr>
        <p:spPr>
          <a:xfrm>
            <a:off x="8080248" y="3767328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72856" y="3739896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GST/Tax Confusion — 4.3%</a:t>
            </a:r>
          </a:p>
        </p:txBody>
      </p:sp>
      <p:sp>
        <p:nvSpPr>
          <p:cNvPr id="39" name="Oval 38"/>
          <p:cNvSpPr/>
          <p:nvPr/>
        </p:nvSpPr>
        <p:spPr>
          <a:xfrm>
            <a:off x="8080248" y="4096512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72856" y="4069080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Incorrect Late Fee — 4.2%</a:t>
            </a:r>
          </a:p>
        </p:txBody>
      </p:sp>
      <p:sp>
        <p:nvSpPr>
          <p:cNvPr id="41" name="Oval 40"/>
          <p:cNvSpPr/>
          <p:nvPr/>
        </p:nvSpPr>
        <p:spPr>
          <a:xfrm>
            <a:off x="8080248" y="4425696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72856" y="4398264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Roaming Charge Dispute — 4.0%</a:t>
            </a:r>
          </a:p>
        </p:txBody>
      </p:sp>
      <p:sp>
        <p:nvSpPr>
          <p:cNvPr id="43" name="Oval 42"/>
          <p:cNvSpPr/>
          <p:nvPr/>
        </p:nvSpPr>
        <p:spPr>
          <a:xfrm>
            <a:off x="8080248" y="4754880"/>
            <a:ext cx="201168" cy="201168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72856" y="4727448"/>
            <a:ext cx="32217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02633"/>
                </a:solidFill>
                <a:latin typeface="Calibri"/>
              </a:rPr>
              <a:t>Unexplained Deduction — 3.7%</a:t>
            </a:r>
          </a:p>
        </p:txBody>
      </p:sp>
      <p:sp>
        <p:nvSpPr>
          <p:cNvPr id="45" name="Oval 44"/>
          <p:cNvSpPr/>
          <p:nvPr/>
        </p:nvSpPr>
        <p:spPr>
          <a:xfrm>
            <a:off x="594360" y="5513832"/>
            <a:ext cx="128016" cy="128016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" y="5440680"/>
            <a:ext cx="10561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202633"/>
                </a:solidFill>
                <a:latin typeface="Calibri"/>
              </a:rPr>
              <a:t>Agents with less than 6 months' tenure skew toward the lowest-CSAT bucket (&lt;6 months) - a coaching signal alongside the process fix.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4360" y="647395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A6B7D"/>
                </a:solidFill>
                <a:latin typeface="Calibri"/>
              </a:rPr>
              <a:t>CSAT Root-Cause &amp; Sentiment Driver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64739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5A6B7D"/>
                </a:solidFill>
                <a:latin typeface="Calibri"/>
              </a:rPr>
              <a:t>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691640"/>
            <a:ext cx="2536911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32439" y="1691640"/>
            <a:ext cx="465100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84611" y="1691640"/>
            <a:ext cx="338254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C4B6"/>
                </a:solidFill>
                <a:latin typeface="Calibri"/>
              </a:rPr>
              <a:t>EXPECTED OUTCOME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2057400"/>
            <a:ext cx="10972800" cy="0"/>
          </a:xfrm>
          <a:prstGeom prst="line">
            <a:avLst/>
          </a:prstGeom>
          <a:ln w="1270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94360" y="219456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#1: Billing Charges (20.8%)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2439" y="219456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20.8% of all complaints are Billing Charges, and “Duplicate Charge” alone drives 22.0% of those — fix the duplicate-charge billing defect first, not the category as a whole.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4611" y="219456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Billing responses average 2.51 vs 2.95 everywhere else — closing that gap could lift OVERALL CSAT from 2.86 toward roughly 2.95 over time.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" y="3383280"/>
            <a:ext cx="10972800" cy="0"/>
          </a:xfrm>
          <a:prstGeom prst="line">
            <a:avLst/>
          </a:prstGeom>
          <a:ln w="635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94360" y="347472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Fix #2: Coach agents under 6 months (34% of roster)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2439" y="347472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Agents under 6 months' tenure are 34% of the roster but generate 47% of Agent Behavior complaints — these specific agents are driving this category, not the team broadly.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4611" y="347472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Targeted coaching (not generic training) directly shrinks a top-3 driver by volume.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4360" y="4663440"/>
            <a:ext cx="10972800" cy="0"/>
          </a:xfrm>
          <a:prstGeom prst="line">
            <a:avLst/>
          </a:prstGeom>
          <a:ln w="6350">
            <a:solidFill>
              <a:srgbClr val="2B3C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94360" y="4754880"/>
            <a:ext cx="253691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 i="0">
                <a:solidFill>
                  <a:srgbClr val="2EC4B6"/>
                </a:solidFill>
                <a:latin typeface="Calibri"/>
              </a:rPr>
              <a:t>Next: Validate &amp; track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2439" y="4754880"/>
            <a:ext cx="465100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Validate the taxonomy against real customer verbatim, then track the top driver's weekly trend already built into the workbook.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4611" y="4754880"/>
            <a:ext cx="338254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D7DEE8"/>
                </a:solidFill>
                <a:latin typeface="Calibri"/>
              </a:rPr>
              <a:t>Confirms both fixes are actually moving CSAT, with real data, not a one-time snapshot.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355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2D0"/>
                </a:solidFill>
                <a:latin typeface="Calibri"/>
              </a:rPr>
              <a:t>Data Analytics Consulting  |  Synthetic demo dataset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