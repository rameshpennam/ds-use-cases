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2788920"/>
            <a:ext cx="109728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CSAT Root-Cause &amp; Sentiment
Driver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Use Case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58191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CSAT scores are down, and leadership needs to know WHY - not just that satisfaction has slipped, but which specific, fixable issue is driving it.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9992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Thousands of open-text survey responses arrive across chat, email and voice every month - too much volume to read by hand, but too much nuance for a dashboard number alone.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441655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Objective: systematically tag every response against a known root-cause taxonomy, score its sentiment, and roll everything up into a ranked, actionable 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508760"/>
            <a:ext cx="4023360" cy="39319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194560"/>
            <a:ext cx="3429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A vague “customer sentiment is down” finding can't be acted on. A ranked, named driver - “Duplicate billing charges, concentrated in the Postpaid LoB” - can go straight to the team that owns the fix, with a number attached to track whether the fix is working.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7,500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Survey responses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Channels (chat/email/voice)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4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Lines of business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23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Telecom circles covered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09067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1752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01 Aug – 31 Oct 2026: date, unique response ID, channel, line of business, the customer's own words (verbatim), CSAT score (1-5)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6850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1188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Who handled it: agent, team lead, manager - and customer-master fields a survey platform routinely carries: plan tier (5 tiers) and telecom circle (23 circles, all-India)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3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CHANNEL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800600"/>
            <a:ext cx="4929981" cy="411480"/>
          </a:xfrm>
          <a:prstGeom prst="rect">
            <a:avLst/>
          </a:prstGeom>
          <a:solidFill>
            <a:srgbClr val="1B2A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24341" y="4800600"/>
            <a:ext cx="3773655" cy="41148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97996" y="4800600"/>
            <a:ext cx="2177722" cy="411480"/>
          </a:xfrm>
          <a:prstGeom prst="rect">
            <a:avLst/>
          </a:prstGeom>
          <a:solidFill>
            <a:srgbClr val="E8A8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321808"/>
            <a:ext cx="128016" cy="12801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Voice: 45%</a:t>
            </a:r>
          </a:p>
        </p:txBody>
      </p:sp>
      <p:sp>
        <p:nvSpPr>
          <p:cNvPr id="23" name="Oval 22"/>
          <p:cNvSpPr/>
          <p:nvPr/>
        </p:nvSpPr>
        <p:spPr>
          <a:xfrm>
            <a:off x="3108960" y="5321808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Chat: 35%</a:t>
            </a:r>
          </a:p>
        </p:txBody>
      </p:sp>
      <p:sp>
        <p:nvSpPr>
          <p:cNvPr id="25" name="Oval 24"/>
          <p:cNvSpPr/>
          <p:nvPr/>
        </p:nvSpPr>
        <p:spPr>
          <a:xfrm>
            <a:off x="5623560" y="5321808"/>
            <a:ext cx="128016" cy="128016"/>
          </a:xfrm>
          <a:prstGeom prst="ellipse">
            <a:avLst/>
          </a:prstGeom>
          <a:solidFill>
            <a:srgbClr val="E8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Email: 20%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Approach &amp; Expected Output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417320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1399032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Bootstrap dictionary</a:t>
            </a:r>
          </a:p>
        </p:txBody>
      </p:sp>
      <p:sp>
        <p:nvSpPr>
          <p:cNvPr id="7" name="Oval 6"/>
          <p:cNvSpPr/>
          <p:nvPr/>
        </p:nvSpPr>
        <p:spPr>
          <a:xfrm>
            <a:off x="667512" y="1847088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Splits term frequency: low-CSAT vs high-CSAT text</a:t>
            </a:r>
          </a:p>
        </p:txBody>
      </p:sp>
      <p:sp>
        <p:nvSpPr>
          <p:cNvPr id="9" name="Oval 8"/>
          <p:cNvSpPr/>
          <p:nvPr/>
        </p:nvSpPr>
        <p:spPr>
          <a:xfrm>
            <a:off x="667512" y="2157984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939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Labels every term's sentiment lean upfront</a:t>
            </a:r>
          </a:p>
        </p:txBody>
      </p:sp>
      <p:sp>
        <p:nvSpPr>
          <p:cNvPr id="11" name="Oval 10"/>
          <p:cNvSpPr/>
          <p:nvPr/>
        </p:nvSpPr>
        <p:spPr>
          <a:xfrm>
            <a:off x="667512" y="2468880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40487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Produces an inspectable shortlist, not a guess</a:t>
            </a:r>
          </a:p>
        </p:txBody>
      </p:sp>
      <p:sp>
        <p:nvSpPr>
          <p:cNvPr id="13" name="Oval 12"/>
          <p:cNvSpPr/>
          <p:nvPr/>
        </p:nvSpPr>
        <p:spPr>
          <a:xfrm>
            <a:off x="667512" y="2779776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71576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Minutes of compute, not days of manual reading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026664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008376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Tag drivers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456432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3924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Matches against 11 categories, 42 sub-issues</a:t>
            </a:r>
          </a:p>
        </p:txBody>
      </p:sp>
      <p:sp>
        <p:nvSpPr>
          <p:cNvPr id="19" name="Oval 18"/>
          <p:cNvSpPr/>
          <p:nvPr/>
        </p:nvSpPr>
        <p:spPr>
          <a:xfrm>
            <a:off x="667512" y="3767328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70332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Ranks matches by phrase-match strength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78224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0142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Strongest match's category = PRIMARY driver</a:t>
            </a:r>
          </a:p>
        </p:txBody>
      </p:sp>
      <p:sp>
        <p:nvSpPr>
          <p:cNvPr id="23" name="Oval 22"/>
          <p:cNvSpPr/>
          <p:nvPr/>
        </p:nvSpPr>
        <p:spPr>
          <a:xfrm>
            <a:off x="667512" y="4389120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2511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The sub-issue itself = actionable SECONDARY</a:t>
            </a:r>
          </a:p>
        </p:txBody>
      </p:sp>
      <p:sp>
        <p:nvSpPr>
          <p:cNvPr id="25" name="Oval 24"/>
          <p:cNvSpPr/>
          <p:nvPr/>
        </p:nvSpPr>
        <p:spPr>
          <a:xfrm>
            <a:off x="594360" y="4636008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617720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NMF safety net</a:t>
            </a:r>
          </a:p>
        </p:txBody>
      </p:sp>
      <p:sp>
        <p:nvSpPr>
          <p:cNvPr id="27" name="Oval 26"/>
          <p:cNvSpPr/>
          <p:nvPr/>
        </p:nvSpPr>
        <p:spPr>
          <a:xfrm>
            <a:off x="667512" y="5065776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00176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TF-IDF + NMF finds latent themes in leftovers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376672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31266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YAKE auto-labels each theme, fully offline</a:t>
            </a:r>
          </a:p>
        </p:txBody>
      </p:sp>
      <p:sp>
        <p:nvSpPr>
          <p:cNvPr id="31" name="Oval 30"/>
          <p:cNvSpPr/>
          <p:nvPr/>
        </p:nvSpPr>
        <p:spPr>
          <a:xfrm>
            <a:off x="667512" y="5687568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62356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Catches edge-of-vocabulary phrasing</a:t>
            </a:r>
          </a:p>
        </p:txBody>
      </p:sp>
      <p:sp>
        <p:nvSpPr>
          <p:cNvPr id="33" name="Oval 32"/>
          <p:cNvSpPr/>
          <p:nvPr/>
        </p:nvSpPr>
        <p:spPr>
          <a:xfrm>
            <a:off x="667512" y="5998464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93445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No response ends with a blank secondary driver</a:t>
            </a:r>
          </a:p>
        </p:txBody>
      </p:sp>
      <p:sp>
        <p:nvSpPr>
          <p:cNvPr id="35" name="Oval 34"/>
          <p:cNvSpPr/>
          <p:nvPr/>
        </p:nvSpPr>
        <p:spPr>
          <a:xfrm>
            <a:off x="6172200" y="2221992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6248" y="2203704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Score sentiment</a:t>
            </a:r>
          </a:p>
        </p:txBody>
      </p:sp>
      <p:sp>
        <p:nvSpPr>
          <p:cNvPr id="37" name="Oval 36"/>
          <p:cNvSpPr/>
          <p:nvPr/>
        </p:nvSpPr>
        <p:spPr>
          <a:xfrm>
            <a:off x="6245352" y="2651760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258775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VADER lexicon model scores tone of every row</a:t>
            </a:r>
          </a:p>
        </p:txBody>
      </p:sp>
      <p:sp>
        <p:nvSpPr>
          <p:cNvPr id="39" name="Oval 38"/>
          <p:cNvSpPr/>
          <p:nvPr/>
        </p:nvSpPr>
        <p:spPr>
          <a:xfrm>
            <a:off x="6245352" y="2962656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6520" y="289864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Deterministic and explainable, no black box</a:t>
            </a:r>
          </a:p>
        </p:txBody>
      </p:sp>
      <p:sp>
        <p:nvSpPr>
          <p:cNvPr id="41" name="Oval 40"/>
          <p:cNvSpPr/>
          <p:nvPr/>
        </p:nvSpPr>
        <p:spPr>
          <a:xfrm>
            <a:off x="6245352" y="3273552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32095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100% offline — zero AI/LLM API dependency</a:t>
            </a:r>
          </a:p>
        </p:txBody>
      </p:sp>
      <p:sp>
        <p:nvSpPr>
          <p:cNvPr id="43" name="Oval 42"/>
          <p:cNvSpPr/>
          <p:nvPr/>
        </p:nvSpPr>
        <p:spPr>
          <a:xfrm>
            <a:off x="6245352" y="3584448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352044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Cross-checked against the CSAT score bucket</a:t>
            </a:r>
          </a:p>
        </p:txBody>
      </p:sp>
      <p:sp>
        <p:nvSpPr>
          <p:cNvPr id="45" name="Oval 44"/>
          <p:cNvSpPr/>
          <p:nvPr/>
        </p:nvSpPr>
        <p:spPr>
          <a:xfrm>
            <a:off x="6172200" y="3831336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6248" y="3813048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Publish</a:t>
            </a:r>
          </a:p>
        </p:txBody>
      </p:sp>
      <p:sp>
        <p:nvSpPr>
          <p:cNvPr id="47" name="Oval 46"/>
          <p:cNvSpPr/>
          <p:nvPr/>
        </p:nvSpPr>
        <p:spPr>
          <a:xfrm>
            <a:off x="6245352" y="4261104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46520" y="419709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One workbook: row data + Analysis sheet</a:t>
            </a:r>
          </a:p>
        </p:txBody>
      </p:sp>
      <p:sp>
        <p:nvSpPr>
          <p:cNvPr id="49" name="Oval 48"/>
          <p:cNvSpPr/>
          <p:nvPr/>
        </p:nvSpPr>
        <p:spPr>
          <a:xfrm>
            <a:off x="6245352" y="4572000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450799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Every chart pairs volume with CSAT severity</a:t>
            </a:r>
          </a:p>
        </p:txBody>
      </p:sp>
      <p:sp>
        <p:nvSpPr>
          <p:cNvPr id="51" name="Oval 50"/>
          <p:cNvSpPr/>
          <p:nvPr/>
        </p:nvSpPr>
        <p:spPr>
          <a:xfrm>
            <a:off x="6245352" y="4882896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46520" y="481888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A 6-slide deck, numbers read live from the data</a:t>
            </a:r>
          </a:p>
        </p:txBody>
      </p:sp>
      <p:sp>
        <p:nvSpPr>
          <p:cNvPr id="53" name="Oval 52"/>
          <p:cNvSpPr/>
          <p:nvPr/>
        </p:nvSpPr>
        <p:spPr>
          <a:xfrm>
            <a:off x="6245352" y="5193792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51297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A Power BI report built on top for the business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Key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2.86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Overall average CSAT (out of 5)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38%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of responses carry negative sentiment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2.78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Lowest avg CSAT: North East circle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21%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of responses: Billing Charges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CSAT MIX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429000"/>
            <a:ext cx="1154110" cy="32004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48470" y="3429000"/>
            <a:ext cx="901546" cy="320040"/>
          </a:xfrm>
          <a:prstGeom prst="rect">
            <a:avLst/>
          </a:prstGeom>
          <a:solidFill>
            <a:srgbClr val="E8A8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50016" y="3429000"/>
            <a:ext cx="1458687" cy="320040"/>
          </a:xfrm>
          <a:prstGeom prst="rect">
            <a:avLst/>
          </a:prstGeom>
          <a:solidFill>
            <a:srgbClr val="E05A4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3895344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858768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Promoters (4-5): 33%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4206240"/>
            <a:ext cx="128016" cy="128016"/>
          </a:xfrm>
          <a:prstGeom prst="ellipse">
            <a:avLst/>
          </a:prstGeom>
          <a:solidFill>
            <a:srgbClr val="E8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4169664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Neutral (3): 26%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4517136"/>
            <a:ext cx="128016" cy="12801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4480560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Detractors (1-2): 42%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37304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TOP 3 PRIMARY DRIVERS</a:t>
            </a:r>
          </a:p>
        </p:txBody>
      </p:sp>
      <p:sp>
        <p:nvSpPr>
          <p:cNvPr id="24" name="Oval 23"/>
          <p:cNvSpPr/>
          <p:nvPr/>
        </p:nvSpPr>
        <p:spPr>
          <a:xfrm>
            <a:off x="4337304" y="3447288"/>
            <a:ext cx="237744" cy="23774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6488" y="3429000"/>
            <a:ext cx="3185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02633"/>
                </a:solidFill>
                <a:latin typeface="Calibri"/>
              </a:rPr>
              <a:t>Billing Charges — 20.8%</a:t>
            </a:r>
          </a:p>
        </p:txBody>
      </p:sp>
      <p:sp>
        <p:nvSpPr>
          <p:cNvPr id="26" name="Oval 25"/>
          <p:cNvSpPr/>
          <p:nvPr/>
        </p:nvSpPr>
        <p:spPr>
          <a:xfrm>
            <a:off x="4337304" y="3831336"/>
            <a:ext cx="237744" cy="23774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6488" y="3813048"/>
            <a:ext cx="3185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02633"/>
                </a:solidFill>
                <a:latin typeface="Calibri"/>
              </a:rPr>
              <a:t>No Issue Positive — 16.7%</a:t>
            </a:r>
          </a:p>
        </p:txBody>
      </p:sp>
      <p:sp>
        <p:nvSpPr>
          <p:cNvPr id="28" name="Oval 27"/>
          <p:cNvSpPr/>
          <p:nvPr/>
        </p:nvSpPr>
        <p:spPr>
          <a:xfrm>
            <a:off x="4337304" y="4215384"/>
            <a:ext cx="237744" cy="23774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6488" y="4197096"/>
            <a:ext cx="3185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02633"/>
                </a:solidFill>
                <a:latin typeface="Calibri"/>
              </a:rPr>
              <a:t>Agent Behavior Comm — 12.2%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0248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TOP 3 SECONDARY DRIVERS</a:t>
            </a:r>
          </a:p>
        </p:txBody>
      </p:sp>
      <p:sp>
        <p:nvSpPr>
          <p:cNvPr id="31" name="Oval 30"/>
          <p:cNvSpPr/>
          <p:nvPr/>
        </p:nvSpPr>
        <p:spPr>
          <a:xfrm>
            <a:off x="8080248" y="3447288"/>
            <a:ext cx="237744" cy="23774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09432" y="3429000"/>
            <a:ext cx="3185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02633"/>
                </a:solidFill>
                <a:latin typeface="Calibri"/>
              </a:rPr>
              <a:t>Duplicate Charge — 4.6%</a:t>
            </a:r>
          </a:p>
        </p:txBody>
      </p:sp>
      <p:sp>
        <p:nvSpPr>
          <p:cNvPr id="33" name="Oval 32"/>
          <p:cNvSpPr/>
          <p:nvPr/>
        </p:nvSpPr>
        <p:spPr>
          <a:xfrm>
            <a:off x="8080248" y="3831336"/>
            <a:ext cx="237744" cy="23774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9432" y="3813048"/>
            <a:ext cx="3185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02633"/>
                </a:solidFill>
                <a:latin typeface="Calibri"/>
              </a:rPr>
              <a:t>GST/Tax Confusion — 4.3%</a:t>
            </a:r>
          </a:p>
        </p:txBody>
      </p:sp>
      <p:sp>
        <p:nvSpPr>
          <p:cNvPr id="35" name="Oval 34"/>
          <p:cNvSpPr/>
          <p:nvPr/>
        </p:nvSpPr>
        <p:spPr>
          <a:xfrm>
            <a:off x="8080248" y="4215384"/>
            <a:ext cx="237744" cy="23774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09432" y="4197096"/>
            <a:ext cx="3185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02633"/>
                </a:solidFill>
                <a:latin typeface="Calibri"/>
              </a:rPr>
              <a:t>Incorrect Late Fee — 4.2%</a:t>
            </a:r>
          </a:p>
        </p:txBody>
      </p:sp>
      <p:sp>
        <p:nvSpPr>
          <p:cNvPr id="37" name="Oval 36"/>
          <p:cNvSpPr/>
          <p:nvPr/>
        </p:nvSpPr>
        <p:spPr>
          <a:xfrm>
            <a:off x="594360" y="533095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257800"/>
            <a:ext cx="10561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Agents with less than 6 months' tenure skew toward the lowest-CSAT bucket (&lt;6 months) - a coaching signal alongside the process fix.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91640"/>
            <a:ext cx="350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8160" y="1691640"/>
            <a:ext cx="350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61960" y="1691640"/>
            <a:ext cx="350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EXPECTED OUTCOME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2057400"/>
            <a:ext cx="10972800" cy="0"/>
          </a:xfrm>
          <a:prstGeom prst="line">
            <a:avLst/>
          </a:prstGeom>
          <a:ln w="12700">
            <a:solidFill>
              <a:srgbClr val="2B3C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2194560"/>
            <a:ext cx="350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4B6"/>
                </a:solidFill>
                <a:latin typeface="Calibri"/>
              </a:rPr>
              <a:t>Fix #1: Billing Charges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160" y="2194560"/>
            <a:ext cx="350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Investigate “Duplicate Charge” specifically — the single most common, named sub-issue, not a vague theme.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1960" y="2194560"/>
            <a:ext cx="350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7DEE8"/>
                </a:solidFill>
                <a:latin typeface="Calibri"/>
              </a:rPr>
              <a:t>Removes the highest-volume, lowest-CSAT driver (avg CSAT 2.51) from the table.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383280"/>
            <a:ext cx="10972800" cy="0"/>
          </a:xfrm>
          <a:prstGeom prst="line">
            <a:avLst/>
          </a:prstGeom>
          <a:ln w="6350">
            <a:solidFill>
              <a:srgbClr val="2B3C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474720"/>
            <a:ext cx="350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4B6"/>
                </a:solidFill>
                <a:latin typeface="Calibri"/>
              </a:rPr>
              <a:t>Fix #2: Coach newer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8160" y="3474720"/>
            <a:ext cx="350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Target coaching at agents under 6 months' tenure — this cohort skews toward the weakest CSAT bucket.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1960" y="3474720"/>
            <a:ext cx="350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7DEE8"/>
                </a:solidFill>
                <a:latin typeface="Calibri"/>
              </a:rPr>
              <a:t>Lifts Agent Behavior &amp; Communication scores, a top-volume driver.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663440"/>
            <a:ext cx="10972800" cy="0"/>
          </a:xfrm>
          <a:prstGeom prst="line">
            <a:avLst/>
          </a:prstGeom>
          <a:ln w="6350">
            <a:solidFill>
              <a:srgbClr val="2B3C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754880"/>
            <a:ext cx="350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4B6"/>
                </a:solidFill>
                <a:latin typeface="Calibri"/>
              </a:rPr>
              <a:t>Next: Validate &amp; track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8160" y="4754880"/>
            <a:ext cx="350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Validate the taxonomy against real customer verbatim, then track the top driver's weekly trend already built into the workbook.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61960" y="4754880"/>
            <a:ext cx="350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7DEE8"/>
                </a:solidFill>
                <a:latin typeface="Calibri"/>
              </a:rPr>
              <a:t>Confirms the fix is working with real data, not a one-time snapshot.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2D0"/>
                </a:solidFill>
                <a:latin typeface="Calibri"/>
              </a:rPr>
              <a:t>Data Analytics Consulting  |  Synthetic demo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