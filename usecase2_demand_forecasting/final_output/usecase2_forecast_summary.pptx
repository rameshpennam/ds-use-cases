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78892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Demand Forecasting &amp; Staffing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58191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Both over- and under-staffing are expensive: idle capacity burns cost; a shortfall shows up directly in service levels and CSAT.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9992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The business question: based on real contact-volume history, how many agents do we actually need over the next several weeks, and does the current roster cover it?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44165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Objective: build a forecast grounded in the real patterns in the data - trend, seasonality, holidays, campaigns - validate it honestly, then convert it into a concrete FTE requirement the business can act 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4023360" cy="39319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429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 forecast that just says “volume is going up” isn't actionable. A staffing plan that says “you'll be short 3.7 FTE on November 18th” gives the business weeks of lead time to actually do something about it - overtime, a flexible shift, or a deliberate decision to accept the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3.8 yrs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Daily contact-volume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Channels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Lines of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forecast forward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0906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Daily contact volume by line of business and channel, with handle time, holiday and campaign flags - the real signals that drive the shape of demand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6850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An agent roster: who we have today, their line of business, team lead/manager, tenure, weekly available hours, and real shrinkage % (not a flat assumption)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VOLUME SPLIT BY LINE OF BUSINESS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3862882" cy="411480"/>
          </a:xfrm>
          <a:prstGeom prst="rect">
            <a:avLst/>
          </a:prstGeom>
          <a:solidFill>
            <a:srgbClr val="1B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242" y="4800600"/>
            <a:ext cx="7018477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5321808"/>
            <a:ext cx="128016" cy="12801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Broadband: 36%</a:t>
            </a:r>
          </a:p>
        </p:txBody>
      </p:sp>
      <p:sp>
        <p:nvSpPr>
          <p:cNvPr id="22" name="Oval 21"/>
          <p:cNvSpPr/>
          <p:nvPr/>
        </p:nvSpPr>
        <p:spPr>
          <a:xfrm>
            <a:off x="3108960" y="53218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Postpaid Mobile: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371600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1353312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Load &amp; prepare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700784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8" name="Oval 7"/>
          <p:cNvSpPr/>
          <p:nvPr/>
        </p:nvSpPr>
        <p:spPr>
          <a:xfrm>
            <a:off x="667512" y="195681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019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Load 3.8 yrs volume history + the agent roster</a:t>
            </a:r>
          </a:p>
        </p:txBody>
      </p:sp>
      <p:sp>
        <p:nvSpPr>
          <p:cNvPr id="10" name="Oval 9"/>
          <p:cNvSpPr/>
          <p:nvPr/>
        </p:nvSpPr>
        <p:spPr>
          <a:xfrm>
            <a:off x="667512" y="223113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17627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Derive occupancy from the roster's REAL shrinkage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468880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13" name="Oval 12"/>
          <p:cNvSpPr/>
          <p:nvPr/>
        </p:nvSpPr>
        <p:spPr>
          <a:xfrm>
            <a:off x="667512" y="2724912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6700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A ready-to-model daily volume series + occupancy figure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2962656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944368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Explore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3291840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18" name="Oval 17"/>
          <p:cNvSpPr/>
          <p:nvPr/>
        </p:nvSpPr>
        <p:spPr>
          <a:xfrm>
            <a:off x="667512" y="354787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9300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Decompose trend + weekly/yearly seasonality</a:t>
            </a:r>
          </a:p>
        </p:txBody>
      </p:sp>
      <p:sp>
        <p:nvSpPr>
          <p:cNvPr id="20" name="Oval 19"/>
          <p:cNvSpPr/>
          <p:nvPr/>
        </p:nvSpPr>
        <p:spPr>
          <a:xfrm>
            <a:off x="667512" y="382219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673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Check day-of-week patterns before modeling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059936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23" name="Oval 22"/>
          <p:cNvSpPr/>
          <p:nvPr/>
        </p:nvSpPr>
        <p:spPr>
          <a:xfrm>
            <a:off x="667512" y="4315968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26110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Confirms the series' real shape before trusting a model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" y="4553712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535424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Benchmark honestly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" y="4882896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28" name="Oval 27"/>
          <p:cNvSpPr/>
          <p:nvPr/>
        </p:nvSpPr>
        <p:spPr>
          <a:xfrm>
            <a:off x="667512" y="513892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0840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Naive seasonal baseline: repeat last week</a:t>
            </a:r>
          </a:p>
        </p:txBody>
      </p:sp>
      <p:sp>
        <p:nvSpPr>
          <p:cNvPr id="30" name="Oval 29"/>
          <p:cNvSpPr/>
          <p:nvPr/>
        </p:nvSpPr>
        <p:spPr>
          <a:xfrm>
            <a:off x="667512" y="541324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35838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Test every candidate on a 60-day holdout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650992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33" name="Oval 32"/>
          <p:cNvSpPr/>
          <p:nvPr/>
        </p:nvSpPr>
        <p:spPr>
          <a:xfrm>
            <a:off x="667512" y="5907024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5216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A bar every model must beat before it ships</a:t>
            </a:r>
          </a:p>
        </p:txBody>
      </p:sp>
      <p:sp>
        <p:nvSpPr>
          <p:cNvPr id="35" name="Oval 34"/>
          <p:cNvSpPr/>
          <p:nvPr/>
        </p:nvSpPr>
        <p:spPr>
          <a:xfrm>
            <a:off x="6172200" y="1371600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6248" y="1353312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Holt-Winters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7064" y="1700784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38" name="Oval 37"/>
          <p:cNvSpPr/>
          <p:nvPr/>
        </p:nvSpPr>
        <p:spPr>
          <a:xfrm>
            <a:off x="6245352" y="195681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19019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Model trend + weekly seasonality explicitly</a:t>
            </a:r>
          </a:p>
        </p:txBody>
      </p:sp>
      <p:sp>
        <p:nvSpPr>
          <p:cNvPr id="40" name="Oval 39"/>
          <p:cNvSpPr/>
          <p:nvPr/>
        </p:nvSpPr>
        <p:spPr>
          <a:xfrm>
            <a:off x="6245352" y="223113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7627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Forecast volume 42 days forward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7064" y="2468880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43" name="Oval 42"/>
          <p:cNvSpPr/>
          <p:nvPr/>
        </p:nvSpPr>
        <p:spPr>
          <a:xfrm>
            <a:off x="6245352" y="2724912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6700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18.8% MAPE — beats the 20.1% baseline</a:t>
            </a:r>
          </a:p>
        </p:txBody>
      </p:sp>
      <p:sp>
        <p:nvSpPr>
          <p:cNvPr id="45" name="Oval 44"/>
          <p:cNvSpPr/>
          <p:nvPr/>
        </p:nvSpPr>
        <p:spPr>
          <a:xfrm>
            <a:off x="6172200" y="2962656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6248" y="2944368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Volume -&gt; FTE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7064" y="3291840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48" name="Oval 47"/>
          <p:cNvSpPr/>
          <p:nvPr/>
        </p:nvSpPr>
        <p:spPr>
          <a:xfrm>
            <a:off x="6245352" y="354787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349300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Convert volume to agent-hours via handle time</a:t>
            </a:r>
          </a:p>
        </p:txBody>
      </p:sp>
      <p:sp>
        <p:nvSpPr>
          <p:cNvPr id="50" name="Oval 49"/>
          <p:cNvSpPr/>
          <p:nvPr/>
        </p:nvSpPr>
        <p:spPr>
          <a:xfrm>
            <a:off x="6245352" y="382219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37673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Compare required FTE to available FTE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7064" y="4059936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53" name="Oval 52"/>
          <p:cNvSpPr/>
          <p:nvPr/>
        </p:nvSpPr>
        <p:spPr>
          <a:xfrm>
            <a:off x="6245352" y="4315968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26110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The exact day(s) staffing runs short, and by how much</a:t>
            </a:r>
          </a:p>
        </p:txBody>
      </p:sp>
      <p:sp>
        <p:nvSpPr>
          <p:cNvPr id="55" name="Oval 54"/>
          <p:cNvSpPr/>
          <p:nvPr/>
        </p:nvSpPr>
        <p:spPr>
          <a:xfrm>
            <a:off x="6172200" y="4553712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56248" y="4535424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Publish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7064" y="4882896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58" name="Oval 57"/>
          <p:cNvSpPr/>
          <p:nvPr/>
        </p:nvSpPr>
        <p:spPr>
          <a:xfrm>
            <a:off x="6245352" y="513892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50840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Write one workbook: forecast + Analysis sheet</a:t>
            </a:r>
          </a:p>
        </p:txBody>
      </p:sp>
      <p:sp>
        <p:nvSpPr>
          <p:cNvPr id="60" name="Oval 59"/>
          <p:cNvSpPr/>
          <p:nvPr/>
        </p:nvSpPr>
        <p:spPr>
          <a:xfrm>
            <a:off x="6245352" y="541324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6520" y="535838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Build the PPT deck + Power BI report on top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7064" y="5650992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63" name="Oval 62"/>
          <p:cNvSpPr/>
          <p:nvPr/>
        </p:nvSpPr>
        <p:spPr>
          <a:xfrm>
            <a:off x="6245352" y="5907024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46520" y="585216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A client-ready package, numbers always in sync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18.8%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Holdout MAPE (vs 20.1% baseline)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36/42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short-staffed over the horizon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28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Avg required FTE over the horizon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25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Available FTE (current roster)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REQUIRED VS AVAILABLE FTE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429000"/>
            <a:ext cx="1841150" cy="32004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5510" y="3429000"/>
            <a:ext cx="1673193" cy="32004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895344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858768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Required: 52%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206240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169664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Available: 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5 SHORT-STAFFED DAYS</a:t>
            </a:r>
          </a:p>
        </p:txBody>
      </p:sp>
      <p:sp>
        <p:nvSpPr>
          <p:cNvPr id="21" name="Oval 20"/>
          <p:cNvSpPr/>
          <p:nvPr/>
        </p:nvSpPr>
        <p:spPr>
          <a:xfrm>
            <a:off x="4337304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9912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18 Nov 2026 — 3.7 FTE short</a:t>
            </a:r>
          </a:p>
        </p:txBody>
      </p:sp>
      <p:sp>
        <p:nvSpPr>
          <p:cNvPr id="23" name="Oval 22"/>
          <p:cNvSpPr/>
          <p:nvPr/>
        </p:nvSpPr>
        <p:spPr>
          <a:xfrm>
            <a:off x="4337304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9912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25 Nov 2026 — 3.7 FTE short</a:t>
            </a:r>
          </a:p>
        </p:txBody>
      </p:sp>
      <p:sp>
        <p:nvSpPr>
          <p:cNvPr id="25" name="Oval 24"/>
          <p:cNvSpPr/>
          <p:nvPr/>
        </p:nvSpPr>
        <p:spPr>
          <a:xfrm>
            <a:off x="4337304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9912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02 Dec 2026 — 3.7 FTE short</a:t>
            </a:r>
          </a:p>
        </p:txBody>
      </p:sp>
      <p:sp>
        <p:nvSpPr>
          <p:cNvPr id="27" name="Oval 26"/>
          <p:cNvSpPr/>
          <p:nvPr/>
        </p:nvSpPr>
        <p:spPr>
          <a:xfrm>
            <a:off x="4337304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912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28 Oct 2026 — 3.6 FTE short</a:t>
            </a:r>
          </a:p>
        </p:txBody>
      </p:sp>
      <p:sp>
        <p:nvSpPr>
          <p:cNvPr id="29" name="Oval 28"/>
          <p:cNvSpPr/>
          <p:nvPr/>
        </p:nvSpPr>
        <p:spPr>
          <a:xfrm>
            <a:off x="4337304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9912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04 Nov 2026 — 3.6 FTE short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0248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WEEKLY GAP TREND (NEXT 5 WKS)</a:t>
            </a:r>
          </a:p>
        </p:txBody>
      </p:sp>
      <p:sp>
        <p:nvSpPr>
          <p:cNvPr id="32" name="Oval 31"/>
          <p:cNvSpPr/>
          <p:nvPr/>
        </p:nvSpPr>
        <p:spPr>
          <a:xfrm>
            <a:off x="8080248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2856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26 Oct — 2.6 FTE avg gap</a:t>
            </a:r>
          </a:p>
        </p:txBody>
      </p:sp>
      <p:sp>
        <p:nvSpPr>
          <p:cNvPr id="34" name="Oval 33"/>
          <p:cNvSpPr/>
          <p:nvPr/>
        </p:nvSpPr>
        <p:spPr>
          <a:xfrm>
            <a:off x="8080248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2856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02 Nov — 2.5 FTE avg gap</a:t>
            </a:r>
          </a:p>
        </p:txBody>
      </p:sp>
      <p:sp>
        <p:nvSpPr>
          <p:cNvPr id="36" name="Oval 35"/>
          <p:cNvSpPr/>
          <p:nvPr/>
        </p:nvSpPr>
        <p:spPr>
          <a:xfrm>
            <a:off x="8080248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2856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09 Nov — 2.5 FTE avg gap</a:t>
            </a:r>
          </a:p>
        </p:txBody>
      </p:sp>
      <p:sp>
        <p:nvSpPr>
          <p:cNvPr id="38" name="Oval 37"/>
          <p:cNvSpPr/>
          <p:nvPr/>
        </p:nvSpPr>
        <p:spPr>
          <a:xfrm>
            <a:off x="8080248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2856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16 Nov — 2.5 FTE avg gap</a:t>
            </a:r>
          </a:p>
        </p:txBody>
      </p:sp>
      <p:sp>
        <p:nvSpPr>
          <p:cNvPr id="40" name="Oval 39"/>
          <p:cNvSpPr/>
          <p:nvPr/>
        </p:nvSpPr>
        <p:spPr>
          <a:xfrm>
            <a:off x="8080248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2856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23 Nov — 2.5 FTE avg gap</a:t>
            </a:r>
          </a:p>
        </p:txBody>
      </p:sp>
      <p:sp>
        <p:nvSpPr>
          <p:cNvPr id="42" name="Oval 41"/>
          <p:cNvSpPr/>
          <p:nvPr/>
        </p:nvSpPr>
        <p:spPr>
          <a:xfrm>
            <a:off x="594360" y="55138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44068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This is a modest, fixable gap - not a crisis - but worth flagging now, with weeks of lead time, rather than discovering it the week service levels slip.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91640"/>
            <a:ext cx="253691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32439" y="1691640"/>
            <a:ext cx="46510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4611" y="1691640"/>
            <a:ext cx="338254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EXPECTED OUTCOME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2057400"/>
            <a:ext cx="10972800" cy="0"/>
          </a:xfrm>
          <a:prstGeom prst="line">
            <a:avLst/>
          </a:prstGeom>
          <a:ln w="1270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19456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#1: Close the FTE gap (86% of days)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439" y="219456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Short-staffed on 86% of the next 42 days, averaging 2.5 FTE (9% of required headcount) — add overtime or flexible-shift agents, prioritizing Broadband coverage since it alone drives 36% of total volume.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4611" y="219456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Closes the gap with 42 days of lead time, protecting the LoB carrying most of the service-level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#2: Watch the peak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2439" y="347472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18 Nov 2026 is the single worst day, 3.7 FTE short — forecast volume peaks that day with no spare buffer.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4611" y="347472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Proactive scheduling avoids the highest service-level-risk day in the horizon.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5488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Next: Extend &amp; revisit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2439" y="475488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Extend the model per LoB/channel for sharper allocation, and revisit shrinkage assumptions quarterly as the roster's tenure mix shifts.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4611" y="475488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Keeps the staffing plan accurate instead of going stale between reviews.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