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7889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Demand Forecasting &amp; Staffing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Both over- and under-staffing are expensive: idle capacity burns cost; a shortfall shows up directly in service levels and CSAT.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The business question: based on real contact-volume history, how many agents do we actually need over the next several weeks, and does the current roster cover it?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build a forecast grounded in the real patterns in the data - trend, seasonality, holidays, campaigns - validate it honestly, then convert it into a concrete FTE requirement the business can act 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forecast that just says “volume is going up” isn't actionable. A staffing plan that says “you'll be short 3.7 FTE on November 18th” gives the business weeks of lead time to actually do something about it - overtime, a flexible shift, or a deliberate decision to accept the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3.8 yrs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Daily contact-volume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forecast forward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Daily contact volume by line of business and channel, with handle time, holiday and campaign flags - the real signals that drive the shape of demand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An agent roster: who we have today, their line of business, team lead/manager, tenure, weekly available hours, and real shrinkage % (not a flat assumption)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VOLUME SPLIT BY LINE OF BUSINESS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3862882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242" y="4800600"/>
            <a:ext cx="7018477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Broadband: 36%</a:t>
            </a:r>
          </a:p>
        </p:txBody>
      </p:sp>
      <p:sp>
        <p:nvSpPr>
          <p:cNvPr id="22" name="Oval 21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Postpaid Mobile: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4630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463040"/>
            <a:ext cx="3227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9A8F"/>
                </a:solidFill>
                <a:latin typeface="Calibri"/>
              </a:rPr>
              <a:t>OUTPUT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1929384"/>
            <a:ext cx="64008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32104" y="2697480"/>
            <a:ext cx="64008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" y="3465576"/>
            <a:ext cx="64008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60120" y="4233672"/>
            <a:ext cx="64008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24128" y="5001768"/>
            <a:ext cx="64008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94360" y="1755648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76479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Load &amp; prepare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55648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Loads 3.8 years of volume history plus the agent roster, then derives occupancy from the roster's REAL shrinkage %, not a flat assumption.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55648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ready-to-model daily volume series + occupancy figure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2523744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2532888"/>
            <a:ext cx="1947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Explore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523744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Decomposes trend and weekly/yearly seasonality, and checks day-of-week patterns before touching any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2523744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Confirms the series' real shape before trusting a model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" y="3291840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3300984"/>
            <a:ext cx="18836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Benchmark honestly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291840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Benchmarks against a naive seasonal baseline (repeat last week), tested on a 60-day holdout.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6760" y="3291840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bar every candidate model must beat before it ships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4059936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3584" y="4069080"/>
            <a:ext cx="18196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Holt-Winters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059936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Models trend and weekly seasonality explicitly, then forecasts volume 42 days forward.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6760" y="4059936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18.8% MAPE — beats the 20.1% baseline</a:t>
            </a:r>
          </a:p>
        </p:txBody>
      </p:sp>
      <p:sp>
        <p:nvSpPr>
          <p:cNvPr id="28" name="Oval 27"/>
          <p:cNvSpPr/>
          <p:nvPr/>
        </p:nvSpPr>
        <p:spPr>
          <a:xfrm>
            <a:off x="850392" y="4828032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7592" y="4837176"/>
            <a:ext cx="17556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Volume -&gt; FTE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4828032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Converts volume to agent-hours via handle time, then compares required FTE to available FTE.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66760" y="4828032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The exact day(s) staffing runs short, and by how much</a:t>
            </a:r>
          </a:p>
        </p:txBody>
      </p:sp>
      <p:sp>
        <p:nvSpPr>
          <p:cNvPr id="32" name="Oval 31"/>
          <p:cNvSpPr/>
          <p:nvPr/>
        </p:nvSpPr>
        <p:spPr>
          <a:xfrm>
            <a:off x="914400" y="5596128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605272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Publish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5596128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02633"/>
                </a:solidFill>
                <a:latin typeface="Calibri"/>
              </a:rPr>
              <a:t>One workbook is written (forecast + Analysis sheet), then the PPT deck and Power BI report are built on top.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5596128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client-ready package, numbers always in sync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18.8%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Holdout MAPE (vs 20.1% baseline)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36/42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short-staffed over the horizon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Avg required FTE over the horizon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25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Available FTE (current roster)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REQUIRED VS AVAILABLE FTE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1841150" cy="32004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5510" y="3429000"/>
            <a:ext cx="1673193" cy="32004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895344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858768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Required: 52%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206240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169664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Available: 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5 SHORT-STAFFED DAYS</a:t>
            </a:r>
          </a:p>
        </p:txBody>
      </p:sp>
      <p:sp>
        <p:nvSpPr>
          <p:cNvPr id="21" name="Oval 20"/>
          <p:cNvSpPr/>
          <p:nvPr/>
        </p:nvSpPr>
        <p:spPr>
          <a:xfrm>
            <a:off x="4337304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9912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18 Nov 2026 — 3.7 FTE short</a:t>
            </a:r>
          </a:p>
        </p:txBody>
      </p:sp>
      <p:sp>
        <p:nvSpPr>
          <p:cNvPr id="23" name="Oval 22"/>
          <p:cNvSpPr/>
          <p:nvPr/>
        </p:nvSpPr>
        <p:spPr>
          <a:xfrm>
            <a:off x="4337304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9912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25 Nov 2026 — 3.7 FTE short</a:t>
            </a:r>
          </a:p>
        </p:txBody>
      </p:sp>
      <p:sp>
        <p:nvSpPr>
          <p:cNvPr id="25" name="Oval 24"/>
          <p:cNvSpPr/>
          <p:nvPr/>
        </p:nvSpPr>
        <p:spPr>
          <a:xfrm>
            <a:off x="4337304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9912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02 Dec 2026 — 3.7 FTE short</a:t>
            </a:r>
          </a:p>
        </p:txBody>
      </p:sp>
      <p:sp>
        <p:nvSpPr>
          <p:cNvPr id="27" name="Oval 26"/>
          <p:cNvSpPr/>
          <p:nvPr/>
        </p:nvSpPr>
        <p:spPr>
          <a:xfrm>
            <a:off x="4337304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912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28 Oct 2026 — 3.6 FTE short</a:t>
            </a:r>
          </a:p>
        </p:txBody>
      </p:sp>
      <p:sp>
        <p:nvSpPr>
          <p:cNvPr id="29" name="Oval 28"/>
          <p:cNvSpPr/>
          <p:nvPr/>
        </p:nvSpPr>
        <p:spPr>
          <a:xfrm>
            <a:off x="4337304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9912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04 Nov 2026 — 3.6 FTE short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0248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WEEKLY GAP TREND (NEXT 5 WKS)</a:t>
            </a:r>
          </a:p>
        </p:txBody>
      </p:sp>
      <p:sp>
        <p:nvSpPr>
          <p:cNvPr id="32" name="Oval 31"/>
          <p:cNvSpPr/>
          <p:nvPr/>
        </p:nvSpPr>
        <p:spPr>
          <a:xfrm>
            <a:off x="8080248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2856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26 Oct — 2.6 FTE avg gap</a:t>
            </a:r>
          </a:p>
        </p:txBody>
      </p:sp>
      <p:sp>
        <p:nvSpPr>
          <p:cNvPr id="34" name="Oval 33"/>
          <p:cNvSpPr/>
          <p:nvPr/>
        </p:nvSpPr>
        <p:spPr>
          <a:xfrm>
            <a:off x="8080248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2856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02 Nov — 2.5 FTE avg gap</a:t>
            </a:r>
          </a:p>
        </p:txBody>
      </p:sp>
      <p:sp>
        <p:nvSpPr>
          <p:cNvPr id="36" name="Oval 35"/>
          <p:cNvSpPr/>
          <p:nvPr/>
        </p:nvSpPr>
        <p:spPr>
          <a:xfrm>
            <a:off x="8080248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2856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09 Nov — 2.5 FTE avg gap</a:t>
            </a:r>
          </a:p>
        </p:txBody>
      </p:sp>
      <p:sp>
        <p:nvSpPr>
          <p:cNvPr id="38" name="Oval 37"/>
          <p:cNvSpPr/>
          <p:nvPr/>
        </p:nvSpPr>
        <p:spPr>
          <a:xfrm>
            <a:off x="8080248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2856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16 Nov — 2.5 FTE avg gap</a:t>
            </a:r>
          </a:p>
        </p:txBody>
      </p:sp>
      <p:sp>
        <p:nvSpPr>
          <p:cNvPr id="40" name="Oval 39"/>
          <p:cNvSpPr/>
          <p:nvPr/>
        </p:nvSpPr>
        <p:spPr>
          <a:xfrm>
            <a:off x="8080248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2856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23 Nov — 2.5 FTE avg gap</a:t>
            </a:r>
          </a:p>
        </p:txBody>
      </p:sp>
      <p:sp>
        <p:nvSpPr>
          <p:cNvPr id="42" name="Oval 41"/>
          <p:cNvSpPr/>
          <p:nvPr/>
        </p:nvSpPr>
        <p:spPr>
          <a:xfrm>
            <a:off x="594360" y="55138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44068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This is a modest, fixable gap - not a crisis - but worth flagging now, with weeks of lead time, rather than discovering it the week service levels slip.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91640"/>
            <a:ext cx="253691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32439" y="1691640"/>
            <a:ext cx="46510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4611" y="1691640"/>
            <a:ext cx="338254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EXPECTED OUTCOME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2057400"/>
            <a:ext cx="10972800" cy="0"/>
          </a:xfrm>
          <a:prstGeom prst="line">
            <a:avLst/>
          </a:prstGeom>
          <a:ln w="1270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19456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#1: Close the FTE gap (86% of days)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439" y="219456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Short-staffed on 86% of the next 42 days, averaging 2.5 FTE (9% of required headcount) — add overtime or flexible-shift agents, prioritizing Broadband coverage since it alone drives 36% of total volume.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4611" y="219456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Closes the gap with 42 days of lead time, protecting the LoB carrying most of the service-level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#2: Watch the peak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2439" y="347472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18 Nov 2026 is the single worst day, 3.7 FTE short — forecast volume peaks that day with no spare buffer.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4611" y="347472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Proactive scheduling avoids the highest service-level-risk day in the horizon.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5488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Next: Extend &amp; revisit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2439" y="475488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Extend the model per LoB/channel for sharper allocation, and revisit shrinkage assumptions quarterly as the roster's tenure mix shifts.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4611" y="475488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Keeps the staffing plan accurate instead of going stale between reviews.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