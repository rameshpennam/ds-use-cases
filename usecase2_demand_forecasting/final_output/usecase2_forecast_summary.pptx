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1031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2402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EC4B6"/>
                </a:solidFill>
                <a:latin typeface="Calibri"/>
              </a:rPr>
              <a:t>Contact-volume forecasting, translated into a concrete staffing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114800"/>
            <a:ext cx="2651760" cy="868680"/>
          </a:xfrm>
          <a:prstGeom prst="roundRect">
            <a:avLst/>
          </a:prstGeom>
          <a:solidFill>
            <a:srgbClr val="2B3C5E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2EC4B6"/>
                </a:solidFill>
                <a:latin typeface="Calibri"/>
              </a:rPr>
              <a:t>3.8 yrs</a:t>
            </a:r>
          </a:p>
          <a:p>
            <a:pPr algn="ctr"/>
            <a:r>
              <a:rPr sz="1050">
                <a:solidFill>
                  <a:srgbClr val="D7DEE8"/>
                </a:solidFill>
                <a:latin typeface="Calibri"/>
              </a:rPr>
              <a:t>Daily contact-volume history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4114800"/>
            <a:ext cx="2651760" cy="868680"/>
          </a:xfrm>
          <a:prstGeom prst="roundRect">
            <a:avLst/>
          </a:prstGeom>
          <a:solidFill>
            <a:srgbClr val="2B3C5E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2EC4B6"/>
                </a:solidFill>
                <a:latin typeface="Calibri"/>
              </a:rPr>
              <a:t>42 days</a:t>
            </a:r>
          </a:p>
          <a:p>
            <a:pPr algn="ctr"/>
            <a:r>
              <a:rPr sz="1050">
                <a:solidFill>
                  <a:srgbClr val="D7DEE8"/>
                </a:solidFill>
                <a:latin typeface="Calibri"/>
              </a:rPr>
              <a:t>Forecast horizon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4114800"/>
            <a:ext cx="2651760" cy="868680"/>
          </a:xfrm>
          <a:prstGeom prst="roundRect">
            <a:avLst/>
          </a:prstGeom>
          <a:solidFill>
            <a:srgbClr val="2B3C5E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2EC4B6"/>
                </a:solidFill>
                <a:latin typeface="Calibri"/>
              </a:rPr>
              <a:t>2 / 3</a:t>
            </a:r>
          </a:p>
          <a:p>
            <a:pPr algn="ctr"/>
            <a:r>
              <a:rPr sz="1050">
                <a:solidFill>
                  <a:srgbClr val="D7DEE8"/>
                </a:solidFill>
                <a:latin typeface="Calibri"/>
              </a:rPr>
              <a:t>Lines of business / channels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4114800"/>
            <a:ext cx="2651760" cy="868680"/>
          </a:xfrm>
          <a:prstGeom prst="roundRect">
            <a:avLst/>
          </a:prstGeom>
          <a:solidFill>
            <a:srgbClr val="2B3C5E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2EC4B6"/>
                </a:solidFill>
                <a:latin typeface="Calibri"/>
              </a:rPr>
              <a:t>18.8%</a:t>
            </a:r>
          </a:p>
          <a:p>
            <a:pPr algn="ctr"/>
            <a:r>
              <a:rPr sz="1050">
                <a:solidFill>
                  <a:srgbClr val="D7DEE8"/>
                </a:solidFill>
                <a:latin typeface="Calibri"/>
              </a:rPr>
              <a:t>Holdout forecast MAPE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AB"/>
                </a:solidFill>
                <a:latin typeface="Calibri"/>
              </a:rPr>
              <a:t>Data Analytics Consulting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Both over- and under-staffing are expensive: idle capacity burns cost; a shortfall shows up directly in service levels and CSAT.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The business question: based on real contact-volume history, how many agents do we actually need over the next several weeks, and does the current roster cover it?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build a forecast grounded in the real patterns in the data - trend, seasonality, holidays, campaigns - validate it honestly, then convert it into a concrete FTE requirement the business can act 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forecast that just says “volume is going up” isn't actionable. A staffing plan that says “you'll be short 3.7 FTE on November 18th” gives the business weeks of lead time to actually do something about it - overtime, a flexible shift, or a deliberate decision to accept the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3.8 yrs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Daily contact-volume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forecast forward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Daily contact volume by line of business and channel, with handle time, holiday and campaign flags - the real signals that drive the shape of demand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An agent roster: who we have today, their line of business, team lead/manager, tenure, weekly available hours, and real shrinkage % (not a flat assumption)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VOLUME SPLIT BY LINE OF BUSINESS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3862882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242" y="4800600"/>
            <a:ext cx="7018477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Broadband: 36%</a:t>
            </a:r>
          </a:p>
        </p:txBody>
      </p:sp>
      <p:sp>
        <p:nvSpPr>
          <p:cNvPr id="22" name="Oval 21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Postpaid Mobile: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08660.0" y="1851660.0"/>
            <a:ext cx="10744200.0" cy="0.0"/>
          </a:xfrm>
          <a:prstGeom prst="line">
            <a:avLst/>
          </a:prstGeom>
          <a:ln w="25400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330452" y="1600200"/>
            <a:ext cx="502920" cy="5029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1. Explore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33472"/>
            <a:ext cx="2249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Decompose trend, weekly and yearly seasonality before touching any model.</a:t>
            </a:r>
          </a:p>
        </p:txBody>
      </p:sp>
      <p:sp>
        <p:nvSpPr>
          <p:cNvPr id="9" name="Oval 8"/>
          <p:cNvSpPr/>
          <p:nvPr/>
        </p:nvSpPr>
        <p:spPr>
          <a:xfrm>
            <a:off x="3579876" y="1600200"/>
            <a:ext cx="502920" cy="5029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240280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2. Benchmark honestly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6624" y="2633472"/>
            <a:ext cx="2249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Every candidate is tested against a naive seasonal baseline on a held-out window - it only ships if it genuinely wins.</a:t>
            </a:r>
          </a:p>
        </p:txBody>
      </p:sp>
      <p:sp>
        <p:nvSpPr>
          <p:cNvPr id="12" name="Oval 11"/>
          <p:cNvSpPr/>
          <p:nvPr/>
        </p:nvSpPr>
        <p:spPr>
          <a:xfrm>
            <a:off x="5829300" y="1600200"/>
            <a:ext cx="502920" cy="5029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240280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3. Holt-Winters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2633472"/>
            <a:ext cx="2249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A lightweight, explainable exponential-smoothing model - not a black box - forecasts volume forward.</a:t>
            </a:r>
          </a:p>
        </p:txBody>
      </p:sp>
      <p:sp>
        <p:nvSpPr>
          <p:cNvPr id="15" name="Oval 14"/>
          <p:cNvSpPr/>
          <p:nvPr/>
        </p:nvSpPr>
        <p:spPr>
          <a:xfrm>
            <a:off x="8078724" y="1600200"/>
            <a:ext cx="502920" cy="5029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5472" y="2240280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4. Volume -&gt; FTE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2633472"/>
            <a:ext cx="2249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Convert volume to required FTE using handle time and the roster's REAL shrinkage rate, then compare to available FTE.</a:t>
            </a:r>
          </a:p>
        </p:txBody>
      </p:sp>
      <p:sp>
        <p:nvSpPr>
          <p:cNvPr id="18" name="Oval 17"/>
          <p:cNvSpPr/>
          <p:nvPr/>
        </p:nvSpPr>
        <p:spPr>
          <a:xfrm>
            <a:off x="10328148" y="1600200"/>
            <a:ext cx="502920" cy="5029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54896" y="2240280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5. Publish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896" y="2633472"/>
            <a:ext cx="2249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One Excel workbook (forecast, model evidence, rollups, charts) plus a Power BI staffing-gap report.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18.8%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Holdout MAPE (vs 20.1% baseline)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Avg required FTE over the horizon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25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Available FTE (current roster)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36/42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short-staffed over the horizon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REQUIRED VS AVAILABLE FTE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2682682" cy="41148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77042" y="3429000"/>
            <a:ext cx="2437957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950208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044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Required: 52%</a:t>
            </a:r>
          </a:p>
        </p:txBody>
      </p:sp>
      <p:sp>
        <p:nvSpPr>
          <p:cNvPr id="18" name="Oval 17"/>
          <p:cNvSpPr/>
          <p:nvPr/>
        </p:nvSpPr>
        <p:spPr>
          <a:xfrm>
            <a:off x="3108960" y="39502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39044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Available: 48%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313639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063240"/>
            <a:ext cx="4983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Holt-Winters improves forecast accuracy by 1.3 percentage points over the naive baseline - a real, honestly-validated gain.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0050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931920"/>
            <a:ext cx="4983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Short on 36 of the next 42 days, averaging 2.5 FTE short - peaking at 3.7 FTE on 18 Nov 2026.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51480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74920"/>
            <a:ext cx="10561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This is a modest, fixable gap - not a crisis - but worth flagging now, with weeks of lead time, rather than discovering it the week service levels slip.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Oval 2"/>
          <p:cNvSpPr/>
          <p:nvPr/>
        </p:nvSpPr>
        <p:spPr>
          <a:xfrm>
            <a:off x="594360" y="173736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B2A4A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709928"/>
            <a:ext cx="10287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Fix #1: Close the FTE gap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D7DEE8"/>
                </a:solidFill>
                <a:latin typeface="Calibri"/>
              </a:rPr>
              <a:t>Close a 2.5-FTE average gap with overtime or a couple of flexible-shift agents - the forecast gives 42 days of lead time to plan it, not a same-week scramble.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306324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B2A4A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035808"/>
            <a:ext cx="10287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Fix #2: Watch the peak day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D7DEE8"/>
                </a:solidFill>
                <a:latin typeface="Calibri"/>
              </a:rPr>
              <a:t>Watch 18 Nov 2026 specifically - the single worst-staffed day in the horizon.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438912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B2A4A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361688"/>
            <a:ext cx="10287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Next step: Extend &amp; revisit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D7DEE8"/>
                </a:solidFill>
                <a:latin typeface="Calibri"/>
              </a:rPr>
              <a:t>Extend the model per LoB/channel for sharper staffing allocation, and revisit shrinkage assumptions quarterly as the roster's tenure mix shifts.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