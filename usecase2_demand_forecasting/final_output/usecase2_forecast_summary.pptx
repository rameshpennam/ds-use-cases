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2788920"/>
            <a:ext cx="1097280" cy="635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Demand Forecasting &amp; Staffing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737360" cy="2926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1F9A8F"/>
                </a:solidFill>
                <a:latin typeface="Calibri"/>
              </a:rP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The Use Case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58191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6355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633"/>
                </a:solidFill>
                <a:latin typeface="Calibri"/>
              </a:rPr>
              <a:t>Both over- and under-staffing are expensive: idle capacity burns cost; a shortfall shows up directly in service levels and CSAT.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99923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6355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633"/>
                </a:solidFill>
                <a:latin typeface="Calibri"/>
              </a:rPr>
              <a:t>The business question: based on real contact-volume history, how many agents do we actually need over the next several weeks, and does the current roster cover it?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441655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6355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633"/>
                </a:solidFill>
                <a:latin typeface="Calibri"/>
              </a:rPr>
              <a:t>Objective: build a forecast grounded in the real patterns in the data - trend, seasonality, holidays, campaigns - validate it honestly, then convert it into a concrete FTE requirement the business can act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508760"/>
            <a:ext cx="4023360" cy="39319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A8F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194560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02633"/>
                </a:solidFill>
                <a:latin typeface="Calibri"/>
              </a:rPr>
              <a:t>A forecast that just says “volume is going up” isn't actionable. A staffing plan that says “you'll be short 3.7 FTE on November 18th” gives the business weeks of lead time to actually do something about it - overtime, a flexible shift, or a deliberate decision to accept the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Demand Forecasting &amp; Staffing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7D"/>
                </a:solidFill>
                <a:latin typeface="Calibr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737360" cy="2926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1F9A8F"/>
                </a:solidFill>
                <a:latin typeface="Calibri"/>
              </a:rP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45336"/>
            <a:ext cx="2542032" cy="115214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3.0 yrs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Daily contact-volume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2424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2424" y="1545336"/>
            <a:ext cx="2542032" cy="115214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3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Channels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545336"/>
            <a:ext cx="2542032" cy="115214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4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Lines of 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8552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88552" y="1545336"/>
            <a:ext cx="2542032" cy="115214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42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Days forecast forward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09067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02633"/>
                </a:solidFill>
                <a:latin typeface="Calibri"/>
              </a:rPr>
              <a:t>Daily contact volume by line of business and channel, with handle time, holiday and campaign flags - the real signals that drive the shape of demand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68503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02633"/>
                </a:solidFill>
                <a:latin typeface="Calibri"/>
              </a:rPr>
              <a:t>An agent roster: who we have today, their line of business, team lead/manager, tenure, weekly available hours, and real shrinkage % (not a flat assumption)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A8F"/>
                </a:solidFill>
                <a:latin typeface="Calibri"/>
              </a:rPr>
              <a:t>VOLUME SPLIT BY LINE OF BUSINESS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800600"/>
            <a:ext cx="1099017" cy="411480"/>
          </a:xfrm>
          <a:prstGeom prst="rect">
            <a:avLst/>
          </a:prstGeom>
          <a:solidFill>
            <a:srgbClr val="1B2A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93377" y="4800600"/>
            <a:ext cx="2219797" cy="411480"/>
          </a:xfrm>
          <a:prstGeom prst="rect">
            <a:avLst/>
          </a:prstGeom>
          <a:solidFill>
            <a:srgbClr val="2EC4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13174" y="4800600"/>
            <a:ext cx="4787798" cy="411480"/>
          </a:xfrm>
          <a:prstGeom prst="rect">
            <a:avLst/>
          </a:prstGeom>
          <a:solidFill>
            <a:srgbClr val="E8A8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00972" y="4800600"/>
            <a:ext cx="2774746" cy="411480"/>
          </a:xfrm>
          <a:prstGeom prst="rect">
            <a:avLst/>
          </a:prstGeom>
          <a:solidFill>
            <a:srgbClr val="E05A4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5321808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76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Billing &amp; Payments: 10%</a:t>
            </a:r>
          </a:p>
        </p:txBody>
      </p:sp>
      <p:sp>
        <p:nvSpPr>
          <p:cNvPr id="24" name="Oval 23"/>
          <p:cNvSpPr/>
          <p:nvPr/>
        </p:nvSpPr>
        <p:spPr>
          <a:xfrm>
            <a:off x="3108960" y="5321808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5276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Broadband: 20%</a:t>
            </a:r>
          </a:p>
        </p:txBody>
      </p:sp>
      <p:sp>
        <p:nvSpPr>
          <p:cNvPr id="26" name="Oval 25"/>
          <p:cNvSpPr/>
          <p:nvPr/>
        </p:nvSpPr>
        <p:spPr>
          <a:xfrm>
            <a:off x="5623560" y="5321808"/>
            <a:ext cx="128016" cy="128016"/>
          </a:xfrm>
          <a:prstGeom prst="ellipse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5276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Postpaid Mobile: 44%</a:t>
            </a:r>
          </a:p>
        </p:txBody>
      </p:sp>
      <p:sp>
        <p:nvSpPr>
          <p:cNvPr id="28" name="Oval 27"/>
          <p:cNvSpPr/>
          <p:nvPr/>
        </p:nvSpPr>
        <p:spPr>
          <a:xfrm>
            <a:off x="8138160" y="5321808"/>
            <a:ext cx="128016" cy="128016"/>
          </a:xfrm>
          <a:prstGeom prst="ellipse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276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Prepaid Mobile: 26%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Demand Forecasting &amp; Staffing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7D"/>
                </a:solidFill>
                <a:latin typeface="Calibr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737360" cy="2926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1F9A8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Approach &amp; Expected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463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9A8F"/>
                </a:solidFill>
                <a:latin typeface="Calibri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46304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9A8F"/>
                </a:solidFill>
                <a:latin typeface="Calibri"/>
              </a:rPr>
              <a:t>OUTPUT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1929384"/>
            <a:ext cx="0" cy="768096"/>
          </a:xfrm>
          <a:prstGeom prst="line">
            <a:avLst/>
          </a:prstGeom>
          <a:ln w="22225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8096" y="2697480"/>
            <a:ext cx="0" cy="768096"/>
          </a:xfrm>
          <a:prstGeom prst="line">
            <a:avLst/>
          </a:prstGeom>
          <a:ln w="22225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" y="3465576"/>
            <a:ext cx="0" cy="768096"/>
          </a:xfrm>
          <a:prstGeom prst="line">
            <a:avLst/>
          </a:prstGeom>
          <a:ln w="22225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" y="4233672"/>
            <a:ext cx="0" cy="768096"/>
          </a:xfrm>
          <a:prstGeom prst="line">
            <a:avLst/>
          </a:prstGeom>
          <a:ln w="22225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8096" y="5001768"/>
            <a:ext cx="0" cy="768096"/>
          </a:xfrm>
          <a:prstGeom prst="line">
            <a:avLst/>
          </a:prstGeom>
          <a:ln w="22225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94360" y="1755648"/>
            <a:ext cx="347472" cy="3474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7647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Load &amp; prepare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55648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02633"/>
                </a:solidFill>
                <a:latin typeface="Calibri"/>
              </a:rPr>
              <a:t>pandas loads 3.8 years of volume history + the roster; occupancy = 1 minus the roster's average shrinkage % (time lost to breaks/training), not a textbook 85% assumption.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55648"/>
            <a:ext cx="3227832" cy="676656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A ready-to-model daily volume series + a real occupancy figure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2523744"/>
            <a:ext cx="347472" cy="3474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328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Explore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523744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02633"/>
                </a:solidFill>
                <a:latin typeface="Calibri"/>
              </a:rPr>
              <a:t>statsmodels' seasonal_decompose splits the series into trend, weekly seasonality, and residual noise, so the real weekly rhythm (e.g. the Sunday dip) is confirmed visually before any model is trusted.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2523744"/>
            <a:ext cx="3227832" cy="676656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Confirms the series' real shape before trusting a model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3291840"/>
            <a:ext cx="347472" cy="3474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3009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Benchmark honestly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291840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02633"/>
                </a:solidFill>
                <a:latin typeface="Calibri"/>
              </a:rPr>
              <a:t>The naive baseline just repeats each weekday's volume from one week back; its holdout MAPE (mean absolute % error, scikit-learn) becomes the bar every real model must beat.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3291840"/>
            <a:ext cx="3227832" cy="676656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A bar every candidate model must beat before it ships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4059936"/>
            <a:ext cx="347472" cy="3474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69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Holt-Winters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059936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02633"/>
                </a:solidFill>
                <a:latin typeface="Calibri"/>
              </a:rPr>
              <a:t>statsmodels' ExponentialSmoothing fits separate trend and weekly-seasonal components, then extrapolates both forward 42 days - a transparent formula, not a black box.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4059936"/>
            <a:ext cx="3227832" cy="676656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15.1% MAPE — beats the 17.2% baseline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" y="4828032"/>
            <a:ext cx="347472" cy="3474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837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Volume -&gt; FTE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828032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02633"/>
                </a:solidFill>
                <a:latin typeface="Calibri"/>
              </a:rPr>
              <a:t>required_hours = volume x handle_time / 3600; required_FTE = hours / (shift_hours x occupancy) - then compared day-by-day against the roster's available hours.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4828032"/>
            <a:ext cx="3227832" cy="676656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The exact day(s) staffing runs short, and by how much</a:t>
            </a:r>
          </a:p>
        </p:txBody>
      </p:sp>
      <p:sp>
        <p:nvSpPr>
          <p:cNvPr id="32" name="Oval 31"/>
          <p:cNvSpPr/>
          <p:nvPr/>
        </p:nvSpPr>
        <p:spPr>
          <a:xfrm>
            <a:off x="594360" y="5596128"/>
            <a:ext cx="347472" cy="3474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6052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596128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02633"/>
                </a:solidFill>
                <a:latin typeface="Calibri"/>
              </a:rPr>
              <a:t>openpyxl writes one workbook (forecast + an Analysis sheet with native Excel charts); python-pptx then re-reads that SAME file to build this deck.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5596128"/>
            <a:ext cx="3227832" cy="676656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A client-ready package, numbers always in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Demand Forecasting &amp; Staffing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7D"/>
                </a:solidFill>
                <a:latin typeface="Calibr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737360" cy="2926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1F9A8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Key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45336"/>
            <a:ext cx="2542032" cy="128930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15.1%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Holdout MAPE (vs 17.2% baseline)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2424" y="1463040"/>
            <a:ext cx="2542032" cy="82296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2424" y="1545336"/>
            <a:ext cx="2542032" cy="128930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34/42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Days short-staffed over the horizon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1463040"/>
            <a:ext cx="2542032" cy="822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545336"/>
            <a:ext cx="2542032" cy="128930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25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Avg required FTE over the horizon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8552" y="1463040"/>
            <a:ext cx="2542032" cy="822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88552" y="1545336"/>
            <a:ext cx="2542032" cy="128930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25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Available FTE (current roster)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40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A8F"/>
                </a:solidFill>
                <a:latin typeface="Calibri"/>
              </a:rPr>
              <a:t>REQUIRED VS AVAILABLE FTE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429000"/>
            <a:ext cx="1786123" cy="320040"/>
          </a:xfrm>
          <a:prstGeom prst="rect">
            <a:avLst/>
          </a:prstGeom>
          <a:solidFill>
            <a:srgbClr val="E05A4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0483" y="3429000"/>
            <a:ext cx="1728220" cy="320040"/>
          </a:xfrm>
          <a:prstGeom prst="rect">
            <a:avLst/>
          </a:prstGeom>
          <a:solidFill>
            <a:srgbClr val="2EC4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895344"/>
            <a:ext cx="128016" cy="128016"/>
          </a:xfrm>
          <a:prstGeom prst="ellipse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858768"/>
            <a:ext cx="3313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B7D"/>
                </a:solidFill>
                <a:latin typeface="Calibri"/>
              </a:rPr>
              <a:t>Required: 51%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206240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169664"/>
            <a:ext cx="3313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B7D"/>
                </a:solidFill>
                <a:latin typeface="Calibri"/>
              </a:rPr>
              <a:t>Available: 49%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7304" y="3063240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A8F"/>
                </a:solidFill>
                <a:latin typeface="Calibri"/>
              </a:rPr>
              <a:t>TOP 5 SHORT-STAFFED DAYS</a:t>
            </a:r>
          </a:p>
        </p:txBody>
      </p:sp>
      <p:sp>
        <p:nvSpPr>
          <p:cNvPr id="21" name="Oval 20"/>
          <p:cNvSpPr/>
          <p:nvPr/>
        </p:nvSpPr>
        <p:spPr>
          <a:xfrm>
            <a:off x="4337304" y="3438144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9912" y="3410712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02 Dec 2026 — 3.3 FTE short</a:t>
            </a:r>
          </a:p>
        </p:txBody>
      </p:sp>
      <p:sp>
        <p:nvSpPr>
          <p:cNvPr id="23" name="Oval 22"/>
          <p:cNvSpPr/>
          <p:nvPr/>
        </p:nvSpPr>
        <p:spPr>
          <a:xfrm>
            <a:off x="4337304" y="3767328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9912" y="3739896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12 Nov 2026 — 3.2 FTE short</a:t>
            </a:r>
          </a:p>
        </p:txBody>
      </p:sp>
      <p:sp>
        <p:nvSpPr>
          <p:cNvPr id="25" name="Oval 24"/>
          <p:cNvSpPr/>
          <p:nvPr/>
        </p:nvSpPr>
        <p:spPr>
          <a:xfrm>
            <a:off x="4337304" y="4096512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9912" y="4069080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31 Oct 2026 — 3.0 FTE short</a:t>
            </a:r>
          </a:p>
        </p:txBody>
      </p:sp>
      <p:sp>
        <p:nvSpPr>
          <p:cNvPr id="27" name="Oval 26"/>
          <p:cNvSpPr/>
          <p:nvPr/>
        </p:nvSpPr>
        <p:spPr>
          <a:xfrm>
            <a:off x="4337304" y="4425696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9912" y="4398264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04 Nov 2026 — 2.8 FTE short</a:t>
            </a:r>
          </a:p>
        </p:txBody>
      </p:sp>
      <p:sp>
        <p:nvSpPr>
          <p:cNvPr id="29" name="Oval 28"/>
          <p:cNvSpPr/>
          <p:nvPr/>
        </p:nvSpPr>
        <p:spPr>
          <a:xfrm>
            <a:off x="4337304" y="4754880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9912" y="4727448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21 Nov 2026 — 2.7 FTE short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0248" y="3063240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A8F"/>
                </a:solidFill>
                <a:latin typeface="Calibri"/>
              </a:rPr>
              <a:t>WEEKLY GAP TREND (NEXT 5 WKS)</a:t>
            </a:r>
          </a:p>
        </p:txBody>
      </p:sp>
      <p:sp>
        <p:nvSpPr>
          <p:cNvPr id="32" name="Oval 31"/>
          <p:cNvSpPr/>
          <p:nvPr/>
        </p:nvSpPr>
        <p:spPr>
          <a:xfrm>
            <a:off x="8080248" y="3438144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2856" y="3410712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Week of 26 Oct — 0.9 FTE avg gap</a:t>
            </a:r>
          </a:p>
        </p:txBody>
      </p:sp>
      <p:sp>
        <p:nvSpPr>
          <p:cNvPr id="34" name="Oval 33"/>
          <p:cNvSpPr/>
          <p:nvPr/>
        </p:nvSpPr>
        <p:spPr>
          <a:xfrm>
            <a:off x="8080248" y="3767328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2856" y="3739896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Week of 02 Nov — 0.8 FTE avg gap</a:t>
            </a:r>
          </a:p>
        </p:txBody>
      </p:sp>
      <p:sp>
        <p:nvSpPr>
          <p:cNvPr id="36" name="Oval 35"/>
          <p:cNvSpPr/>
          <p:nvPr/>
        </p:nvSpPr>
        <p:spPr>
          <a:xfrm>
            <a:off x="8080248" y="4096512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2856" y="4069080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Week of 09 Nov — 1.0 FTE avg gap</a:t>
            </a:r>
          </a:p>
        </p:txBody>
      </p:sp>
      <p:sp>
        <p:nvSpPr>
          <p:cNvPr id="38" name="Oval 37"/>
          <p:cNvSpPr/>
          <p:nvPr/>
        </p:nvSpPr>
        <p:spPr>
          <a:xfrm>
            <a:off x="8080248" y="4425696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2856" y="4398264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Week of 16 Nov — 1.1 FTE avg gap</a:t>
            </a:r>
          </a:p>
        </p:txBody>
      </p:sp>
      <p:sp>
        <p:nvSpPr>
          <p:cNvPr id="40" name="Oval 39"/>
          <p:cNvSpPr/>
          <p:nvPr/>
        </p:nvSpPr>
        <p:spPr>
          <a:xfrm>
            <a:off x="8080248" y="4754880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2856" y="4727448"/>
            <a:ext cx="3221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02633"/>
                </a:solidFill>
                <a:latin typeface="Calibri"/>
              </a:rPr>
              <a:t>Week of 23 Nov — 0.7 FTE avg gap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" y="551383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440680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02633"/>
                </a:solidFill>
                <a:latin typeface="Calibri"/>
              </a:rPr>
              <a:t>This is a modest, fixable gap - not a crisis - but worth flagging now, with weeks of lead time, rather than discovering it the week service levels slip.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Demand Forecasting &amp; Staffing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7D"/>
                </a:solidFill>
                <a:latin typeface="Calibr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91640"/>
            <a:ext cx="25369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2439" y="1691640"/>
            <a:ext cx="46510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WHAT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4611" y="1691640"/>
            <a:ext cx="33825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EXPECTED OUTCOME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057400"/>
            <a:ext cx="10972800" cy="0"/>
          </a:xfrm>
          <a:prstGeom prst="line">
            <a:avLst/>
          </a:prstGeom>
          <a:ln w="12700">
            <a:solidFill>
              <a:srgbClr val="2B3C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194560"/>
            <a:ext cx="25369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EC4B6"/>
                </a:solidFill>
                <a:latin typeface="Calibri"/>
              </a:rPr>
              <a:t>Fix #1: Close the FTE gap (81% of days)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2439" y="2194560"/>
            <a:ext cx="46510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Short-staffed on 81% of the next 42 days, averaging 0.8 FTE (3% of required headcount) — add overtime or flexible-shift agents, prioritizing Billing &amp; Payments coverage since it alone drives 10% of total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4611" y="2194560"/>
            <a:ext cx="338254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7DEE8"/>
                </a:solidFill>
                <a:latin typeface="Calibri"/>
              </a:rPr>
              <a:t>Closes the gap with 42 days of lead time, protecting the LoB carrying most of the service-level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25369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EC4B6"/>
                </a:solidFill>
                <a:latin typeface="Calibri"/>
              </a:rPr>
              <a:t>Fix #2: Watch the peak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2439" y="3474720"/>
            <a:ext cx="46510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02 Dec 2026 is the single worst day, 3.3 FTE short — forecast volume peaks that day with no spare buffer.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4611" y="3474720"/>
            <a:ext cx="338254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7DEE8"/>
                </a:solidFill>
                <a:latin typeface="Calibri"/>
              </a:rPr>
              <a:t>Proactive scheduling avoids the highest service-level-risk day in the horizon.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25369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EC4B6"/>
                </a:solidFill>
                <a:latin typeface="Calibri"/>
              </a:rPr>
              <a:t>Fix #3: Rebalance the weekly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2439" y="4754880"/>
            <a:ext cx="46510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roster runs a surplus on Sunday (-2.8 FTE over) but is short every other day, worst on Thursday (2.0 FTE avg) — shift some of that Sunday coverage into the weekday shifts that need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4611" y="4754880"/>
            <a:ext cx="338254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7DEE8"/>
                </a:solidFill>
                <a:latin typeface="Calibri"/>
              </a:rPr>
              <a:t>Closes the weekday shortfall using capacity already on the roster, not new hires.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2D0"/>
                </a:solidFill>
                <a:latin typeface="Calibri"/>
              </a:rPr>
              <a:t>Data Analytics Consulting  |  Synthetic demo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