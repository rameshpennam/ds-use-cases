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2788920"/>
            <a:ext cx="109728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Demand Forecasting &amp; Staffing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65760"/>
            <a:ext cx="1737360" cy="29260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00" b="1">
                <a:solidFill>
                  <a:srgbClr val="1F9A8F"/>
                </a:solidFill>
                <a:latin typeface="Calibri"/>
              </a:rPr>
              <a:t>BUSINESS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The Use Case</a:t>
            </a:r>
          </a:p>
        </p:txBody>
      </p:sp>
      <p:sp>
        <p:nvSpPr>
          <p:cNvPr id="5" name="Oval 4"/>
          <p:cNvSpPr/>
          <p:nvPr/>
        </p:nvSpPr>
        <p:spPr>
          <a:xfrm>
            <a:off x="594360" y="158191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63550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02633"/>
                </a:solidFill>
                <a:latin typeface="Calibri"/>
              </a:rPr>
              <a:t>Both over- and under-staffing are expensive: idle capacity burns cost; a shortfall shows up directly in service levels and CSAT.</a:t>
            </a:r>
          </a:p>
        </p:txBody>
      </p:sp>
      <p:sp>
        <p:nvSpPr>
          <p:cNvPr id="7" name="Oval 6"/>
          <p:cNvSpPr/>
          <p:nvPr/>
        </p:nvSpPr>
        <p:spPr>
          <a:xfrm>
            <a:off x="594360" y="299923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63550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02633"/>
                </a:solidFill>
                <a:latin typeface="Calibri"/>
              </a:rPr>
              <a:t>The business question: based on real contact-volume history, how many agents do we actually need over the next several weeks, and does the current roster cover it?</a:t>
            </a:r>
          </a:p>
        </p:txBody>
      </p:sp>
      <p:sp>
        <p:nvSpPr>
          <p:cNvPr id="9" name="Oval 8"/>
          <p:cNvSpPr/>
          <p:nvPr/>
        </p:nvSpPr>
        <p:spPr>
          <a:xfrm>
            <a:off x="594360" y="441655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63550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02633"/>
                </a:solidFill>
                <a:latin typeface="Calibri"/>
              </a:rPr>
              <a:t>Objective: build a forecast grounded in the real patterns in the data - trend, seasonality, holidays, campaigns - validate it honestly, then convert it into a concrete FTE requirement the business can act 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1508760"/>
            <a:ext cx="4023360" cy="3931920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7830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9A8F"/>
                </a:solidFill>
                <a:latin typeface="Calibri"/>
              </a:rPr>
              <a:t>WHY THIS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194560"/>
            <a:ext cx="3429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202633"/>
                </a:solidFill>
                <a:latin typeface="Calibri"/>
              </a:rPr>
              <a:t>A forecast that just says “volume is going up” isn't actionable. A staffing plan that says “you'll be short 3.7 FTE on November 18th” gives the business weeks of lead time to actually do something about it - overtime, a flexible shift, or a deliberate decision to accept the risk.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739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B7D"/>
                </a:solidFill>
                <a:latin typeface="Calibri"/>
              </a:rPr>
              <a:t>Demand Forecasting &amp; Staffing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64240" y="647395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B7D"/>
                </a:solidFill>
                <a:latin typeface="Calibri"/>
              </a:rPr>
              <a:t>02 / 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65760"/>
            <a:ext cx="1737360" cy="29260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00" b="1">
                <a:solidFill>
                  <a:srgbClr val="1F9A8F"/>
                </a:solidFill>
                <a:latin typeface="Calibri"/>
              </a:rPr>
              <a:t>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The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545336"/>
            <a:ext cx="2542032" cy="115214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3.8 yrs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Daily contact-volume history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3392424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92424" y="1545336"/>
            <a:ext cx="2542032" cy="115214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3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Channels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0488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0488" y="1545336"/>
            <a:ext cx="2542032" cy="115214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2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Lines of business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88552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988552" y="1545336"/>
            <a:ext cx="2542032" cy="115214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42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Days forecast forward</a:t>
            </a:r>
          </a:p>
        </p:txBody>
      </p:sp>
      <p:sp>
        <p:nvSpPr>
          <p:cNvPr id="13" name="Oval 12"/>
          <p:cNvSpPr/>
          <p:nvPr/>
        </p:nvSpPr>
        <p:spPr>
          <a:xfrm>
            <a:off x="594360" y="309067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017520"/>
            <a:ext cx="10561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202633"/>
                </a:solidFill>
                <a:latin typeface="Calibri"/>
              </a:rPr>
              <a:t>Daily contact volume by line of business and channel, with handle time, holiday and campaign flags - the real signals that drive the shape of demand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" y="368503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611880"/>
            <a:ext cx="10561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202633"/>
                </a:solidFill>
                <a:latin typeface="Calibri"/>
              </a:rPr>
              <a:t>An agent roster: who we have today, their line of business, team lead/manager, tenure, weekly available hours, and real shrinkage % (not a flat assumption)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4348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9A8F"/>
                </a:solidFill>
                <a:latin typeface="Calibri"/>
              </a:rPr>
              <a:t>VOLUME SPLIT BY LINE OF BUSINESS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4800600"/>
            <a:ext cx="3862882" cy="411480"/>
          </a:xfrm>
          <a:prstGeom prst="rect">
            <a:avLst/>
          </a:prstGeom>
          <a:solidFill>
            <a:srgbClr val="1B2A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57242" y="4800600"/>
            <a:ext cx="7018477" cy="411480"/>
          </a:xfrm>
          <a:prstGeom prst="rect">
            <a:avLst/>
          </a:prstGeom>
          <a:solidFill>
            <a:srgbClr val="2EC4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94360" y="5321808"/>
            <a:ext cx="128016" cy="128016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27608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A6B7D"/>
                </a:solidFill>
                <a:latin typeface="Calibri"/>
              </a:rPr>
              <a:t>Broadband: 36%</a:t>
            </a:r>
          </a:p>
        </p:txBody>
      </p:sp>
      <p:sp>
        <p:nvSpPr>
          <p:cNvPr id="22" name="Oval 21"/>
          <p:cNvSpPr/>
          <p:nvPr/>
        </p:nvSpPr>
        <p:spPr>
          <a:xfrm>
            <a:off x="3108960" y="5321808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0" y="527608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A6B7D"/>
                </a:solidFill>
                <a:latin typeface="Calibri"/>
              </a:rPr>
              <a:t>Postpaid Mobile: 64%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4739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B7D"/>
                </a:solidFill>
                <a:latin typeface="Calibri"/>
              </a:rPr>
              <a:t>Demand Forecasting &amp; Staffing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7395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B7D"/>
                </a:solidFill>
                <a:latin typeface="Calibri"/>
              </a:rPr>
              <a:t>03 / 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65760"/>
            <a:ext cx="1737360" cy="29260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00" b="1">
                <a:solidFill>
                  <a:srgbClr val="1F9A8F"/>
                </a:solidFill>
                <a:latin typeface="Calibri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Approach &amp; Expected Output</a:t>
            </a:r>
          </a:p>
        </p:txBody>
      </p:sp>
      <p:sp>
        <p:nvSpPr>
          <p:cNvPr id="5" name="Oval 4"/>
          <p:cNvSpPr/>
          <p:nvPr/>
        </p:nvSpPr>
        <p:spPr>
          <a:xfrm>
            <a:off x="594360" y="1417320"/>
            <a:ext cx="292608" cy="29260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8" y="1399032"/>
            <a:ext cx="48280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Explore first</a:t>
            </a:r>
          </a:p>
        </p:txBody>
      </p:sp>
      <p:sp>
        <p:nvSpPr>
          <p:cNvPr id="7" name="Oval 6"/>
          <p:cNvSpPr/>
          <p:nvPr/>
        </p:nvSpPr>
        <p:spPr>
          <a:xfrm>
            <a:off x="667512" y="1847088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Decomposes trend + weekly/yearly seasonality</a:t>
            </a:r>
          </a:p>
        </p:txBody>
      </p:sp>
      <p:sp>
        <p:nvSpPr>
          <p:cNvPr id="9" name="Oval 8"/>
          <p:cNvSpPr/>
          <p:nvPr/>
        </p:nvSpPr>
        <p:spPr>
          <a:xfrm>
            <a:off x="667512" y="2157984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09397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Checks day-of-week patterns before modeling</a:t>
            </a:r>
          </a:p>
        </p:txBody>
      </p:sp>
      <p:sp>
        <p:nvSpPr>
          <p:cNvPr id="11" name="Oval 10"/>
          <p:cNvSpPr/>
          <p:nvPr/>
        </p:nvSpPr>
        <p:spPr>
          <a:xfrm>
            <a:off x="667512" y="2468880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404872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Spots holiday/campaign spikes visually first</a:t>
            </a:r>
          </a:p>
        </p:txBody>
      </p:sp>
      <p:sp>
        <p:nvSpPr>
          <p:cNvPr id="13" name="Oval 12"/>
          <p:cNvSpPr/>
          <p:nvPr/>
        </p:nvSpPr>
        <p:spPr>
          <a:xfrm>
            <a:off x="667512" y="2779776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715768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No model touches the data blind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" y="3026664"/>
            <a:ext cx="292608" cy="29260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3008376"/>
            <a:ext cx="48280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Benchmark honestly</a:t>
            </a:r>
          </a:p>
        </p:txBody>
      </p:sp>
      <p:sp>
        <p:nvSpPr>
          <p:cNvPr id="17" name="Oval 16"/>
          <p:cNvSpPr/>
          <p:nvPr/>
        </p:nvSpPr>
        <p:spPr>
          <a:xfrm>
            <a:off x="667512" y="3456432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39242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Naive seasonal baseline: repeat last week</a:t>
            </a:r>
          </a:p>
        </p:txBody>
      </p:sp>
      <p:sp>
        <p:nvSpPr>
          <p:cNvPr id="19" name="Oval 18"/>
          <p:cNvSpPr/>
          <p:nvPr/>
        </p:nvSpPr>
        <p:spPr>
          <a:xfrm>
            <a:off x="667512" y="3767328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703320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Every candidate tested on a 60-day holdout</a:t>
            </a:r>
          </a:p>
        </p:txBody>
      </p:sp>
      <p:sp>
        <p:nvSpPr>
          <p:cNvPr id="21" name="Oval 20"/>
          <p:cNvSpPr/>
          <p:nvPr/>
        </p:nvSpPr>
        <p:spPr>
          <a:xfrm>
            <a:off x="667512" y="4078224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01421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A model only ships if it beats the baseline</a:t>
            </a:r>
          </a:p>
        </p:txBody>
      </p:sp>
      <p:sp>
        <p:nvSpPr>
          <p:cNvPr id="23" name="Oval 22"/>
          <p:cNvSpPr/>
          <p:nvPr/>
        </p:nvSpPr>
        <p:spPr>
          <a:xfrm>
            <a:off x="667512" y="4389120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325112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Script asserts this — never silently skipped</a:t>
            </a:r>
          </a:p>
        </p:txBody>
      </p:sp>
      <p:sp>
        <p:nvSpPr>
          <p:cNvPr id="25" name="Oval 24"/>
          <p:cNvSpPr/>
          <p:nvPr/>
        </p:nvSpPr>
        <p:spPr>
          <a:xfrm>
            <a:off x="594360" y="4636008"/>
            <a:ext cx="292608" cy="29260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4617720"/>
            <a:ext cx="48280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Holt-Winters</a:t>
            </a:r>
          </a:p>
        </p:txBody>
      </p:sp>
      <p:sp>
        <p:nvSpPr>
          <p:cNvPr id="27" name="Oval 26"/>
          <p:cNvSpPr/>
          <p:nvPr/>
        </p:nvSpPr>
        <p:spPr>
          <a:xfrm>
            <a:off x="667512" y="5065776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5001768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Models trend + weekly seasonality explicitly</a:t>
            </a:r>
          </a:p>
        </p:txBody>
      </p:sp>
      <p:sp>
        <p:nvSpPr>
          <p:cNvPr id="29" name="Oval 28"/>
          <p:cNvSpPr/>
          <p:nvPr/>
        </p:nvSpPr>
        <p:spPr>
          <a:xfrm>
            <a:off x="667512" y="5376672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31266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Lightweight, explainable — not a black box</a:t>
            </a:r>
          </a:p>
        </p:txBody>
      </p:sp>
      <p:sp>
        <p:nvSpPr>
          <p:cNvPr id="31" name="Oval 30"/>
          <p:cNvSpPr/>
          <p:nvPr/>
        </p:nvSpPr>
        <p:spPr>
          <a:xfrm>
            <a:off x="667512" y="5687568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623560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Forecasts volume 42 days forward</a:t>
            </a:r>
          </a:p>
        </p:txBody>
      </p:sp>
      <p:sp>
        <p:nvSpPr>
          <p:cNvPr id="33" name="Oval 32"/>
          <p:cNvSpPr/>
          <p:nvPr/>
        </p:nvSpPr>
        <p:spPr>
          <a:xfrm>
            <a:off x="667512" y="5998464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93445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Beat the baseline: 18.8% vs 20.1% MAPE</a:t>
            </a:r>
          </a:p>
        </p:txBody>
      </p:sp>
      <p:sp>
        <p:nvSpPr>
          <p:cNvPr id="35" name="Oval 34"/>
          <p:cNvSpPr/>
          <p:nvPr/>
        </p:nvSpPr>
        <p:spPr>
          <a:xfrm>
            <a:off x="6172200" y="2221992"/>
            <a:ext cx="292608" cy="29260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56248" y="2203704"/>
            <a:ext cx="48280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Volume -&gt; FTE</a:t>
            </a:r>
          </a:p>
        </p:txBody>
      </p:sp>
      <p:sp>
        <p:nvSpPr>
          <p:cNvPr id="37" name="Oval 36"/>
          <p:cNvSpPr/>
          <p:nvPr/>
        </p:nvSpPr>
        <p:spPr>
          <a:xfrm>
            <a:off x="6245352" y="2651760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46520" y="2587752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Converts volume to agent-hours via handle time</a:t>
            </a:r>
          </a:p>
        </p:txBody>
      </p:sp>
      <p:sp>
        <p:nvSpPr>
          <p:cNvPr id="39" name="Oval 38"/>
          <p:cNvSpPr/>
          <p:nvPr/>
        </p:nvSpPr>
        <p:spPr>
          <a:xfrm>
            <a:off x="6245352" y="2962656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46520" y="2898648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Uses the roster's REAL shrinkage %, not a guess</a:t>
            </a:r>
          </a:p>
        </p:txBody>
      </p:sp>
      <p:sp>
        <p:nvSpPr>
          <p:cNvPr id="41" name="Oval 40"/>
          <p:cNvSpPr/>
          <p:nvPr/>
        </p:nvSpPr>
        <p:spPr>
          <a:xfrm>
            <a:off x="6245352" y="3273552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46520" y="320954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Compares required FTE to available FTE</a:t>
            </a:r>
          </a:p>
        </p:txBody>
      </p:sp>
      <p:sp>
        <p:nvSpPr>
          <p:cNvPr id="43" name="Oval 42"/>
          <p:cNvSpPr/>
          <p:nvPr/>
        </p:nvSpPr>
        <p:spPr>
          <a:xfrm>
            <a:off x="6245352" y="3584448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46520" y="3520440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Flags the exact day staffing runs short</a:t>
            </a:r>
          </a:p>
        </p:txBody>
      </p:sp>
      <p:sp>
        <p:nvSpPr>
          <p:cNvPr id="45" name="Oval 44"/>
          <p:cNvSpPr/>
          <p:nvPr/>
        </p:nvSpPr>
        <p:spPr>
          <a:xfrm>
            <a:off x="6172200" y="3831336"/>
            <a:ext cx="292608" cy="29260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56248" y="3813048"/>
            <a:ext cx="48280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Publish</a:t>
            </a:r>
          </a:p>
        </p:txBody>
      </p:sp>
      <p:sp>
        <p:nvSpPr>
          <p:cNvPr id="47" name="Oval 46"/>
          <p:cNvSpPr/>
          <p:nvPr/>
        </p:nvSpPr>
        <p:spPr>
          <a:xfrm>
            <a:off x="6245352" y="4261104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46520" y="419709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One workbook: forecast + Analysis sheet</a:t>
            </a:r>
          </a:p>
        </p:txBody>
      </p:sp>
      <p:sp>
        <p:nvSpPr>
          <p:cNvPr id="49" name="Oval 48"/>
          <p:cNvSpPr/>
          <p:nvPr/>
        </p:nvSpPr>
        <p:spPr>
          <a:xfrm>
            <a:off x="6245352" y="4572000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46520" y="4507992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Every chart pairs volume with staffing gap</a:t>
            </a:r>
          </a:p>
        </p:txBody>
      </p:sp>
      <p:sp>
        <p:nvSpPr>
          <p:cNvPr id="51" name="Oval 50"/>
          <p:cNvSpPr/>
          <p:nvPr/>
        </p:nvSpPr>
        <p:spPr>
          <a:xfrm>
            <a:off x="6245352" y="4882896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46520" y="4818888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A 6-slide deck, numbers read live from the data</a:t>
            </a:r>
          </a:p>
        </p:txBody>
      </p:sp>
      <p:sp>
        <p:nvSpPr>
          <p:cNvPr id="53" name="Oval 52"/>
          <p:cNvSpPr/>
          <p:nvPr/>
        </p:nvSpPr>
        <p:spPr>
          <a:xfrm>
            <a:off x="6245352" y="5193792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46520" y="512978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A Power BI staffing-gap report on top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4360" y="64739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B7D"/>
                </a:solidFill>
                <a:latin typeface="Calibri"/>
              </a:rPr>
              <a:t>Demand Forecasting &amp; Staffing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64240" y="647395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B7D"/>
                </a:solidFill>
                <a:latin typeface="Calibri"/>
              </a:rPr>
              <a:t>04 / 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65760"/>
            <a:ext cx="1737360" cy="29260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00" b="1">
                <a:solidFill>
                  <a:srgbClr val="1F9A8F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Key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545336"/>
            <a:ext cx="2542032" cy="128930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18.8%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Holdout MAPE (vs 20.1% baseline)</a:t>
            </a:r>
          </a:p>
        </p:txBody>
      </p:sp>
      <p:sp>
        <p:nvSpPr>
          <p:cNvPr id="7" name="Rectangle 6"/>
          <p:cNvSpPr/>
          <p:nvPr/>
        </p:nvSpPr>
        <p:spPr>
          <a:xfrm>
            <a:off x="3392424" y="1463040"/>
            <a:ext cx="2542032" cy="82296"/>
          </a:xfrm>
          <a:prstGeom prst="rect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92424" y="1545336"/>
            <a:ext cx="2542032" cy="128930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36/42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Days short-staffed over the horizon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0488" y="1463040"/>
            <a:ext cx="2542032" cy="8229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0488" y="1545336"/>
            <a:ext cx="2542032" cy="128930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28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Avg required FTE over the horizon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88552" y="1463040"/>
            <a:ext cx="2542032" cy="8229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988552" y="1545336"/>
            <a:ext cx="2542032" cy="128930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25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Available FTE (current roster)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063240"/>
            <a:ext cx="3514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9A8F"/>
                </a:solidFill>
                <a:latin typeface="Calibri"/>
              </a:rPr>
              <a:t>REQUIRED VS AVAILABLE FTE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3429000"/>
            <a:ext cx="1841150" cy="320040"/>
          </a:xfrm>
          <a:prstGeom prst="rect">
            <a:avLst/>
          </a:prstGeom>
          <a:solidFill>
            <a:srgbClr val="E05A4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35510" y="3429000"/>
            <a:ext cx="1673193" cy="320040"/>
          </a:xfrm>
          <a:prstGeom prst="rect">
            <a:avLst/>
          </a:prstGeom>
          <a:solidFill>
            <a:srgbClr val="2EC4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4360" y="3895344"/>
            <a:ext cx="128016" cy="128016"/>
          </a:xfrm>
          <a:prstGeom prst="ellipse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8" y="3858768"/>
            <a:ext cx="33131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A6B7D"/>
                </a:solidFill>
                <a:latin typeface="Calibri"/>
              </a:rPr>
              <a:t>Required: 52%</a:t>
            </a:r>
          </a:p>
        </p:txBody>
      </p:sp>
      <p:sp>
        <p:nvSpPr>
          <p:cNvPr id="18" name="Oval 17"/>
          <p:cNvSpPr/>
          <p:nvPr/>
        </p:nvSpPr>
        <p:spPr>
          <a:xfrm>
            <a:off x="594360" y="4206240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4169664"/>
            <a:ext cx="33131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A6B7D"/>
                </a:solidFill>
                <a:latin typeface="Calibri"/>
              </a:rPr>
              <a:t>Available: 48%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7304" y="3063240"/>
            <a:ext cx="3514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9A8F"/>
                </a:solidFill>
                <a:latin typeface="Calibri"/>
              </a:rPr>
              <a:t>TOP 3 SHORT-STAFFED DAYS</a:t>
            </a:r>
          </a:p>
        </p:txBody>
      </p:sp>
      <p:sp>
        <p:nvSpPr>
          <p:cNvPr id="21" name="Oval 20"/>
          <p:cNvSpPr/>
          <p:nvPr/>
        </p:nvSpPr>
        <p:spPr>
          <a:xfrm>
            <a:off x="4337304" y="3447288"/>
            <a:ext cx="237744" cy="237744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6488" y="3429000"/>
            <a:ext cx="3185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02633"/>
                </a:solidFill>
                <a:latin typeface="Calibri"/>
              </a:rPr>
              <a:t>18 Nov 2026 — 3.7 FTE short</a:t>
            </a:r>
          </a:p>
        </p:txBody>
      </p:sp>
      <p:sp>
        <p:nvSpPr>
          <p:cNvPr id="23" name="Oval 22"/>
          <p:cNvSpPr/>
          <p:nvPr/>
        </p:nvSpPr>
        <p:spPr>
          <a:xfrm>
            <a:off x="4337304" y="3831336"/>
            <a:ext cx="237744" cy="237744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6488" y="3813048"/>
            <a:ext cx="3185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02633"/>
                </a:solidFill>
                <a:latin typeface="Calibri"/>
              </a:rPr>
              <a:t>25 Nov 2026 — 3.7 FTE short</a:t>
            </a:r>
          </a:p>
        </p:txBody>
      </p:sp>
      <p:sp>
        <p:nvSpPr>
          <p:cNvPr id="25" name="Oval 24"/>
          <p:cNvSpPr/>
          <p:nvPr/>
        </p:nvSpPr>
        <p:spPr>
          <a:xfrm>
            <a:off x="4337304" y="4215384"/>
            <a:ext cx="237744" cy="237744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6488" y="4197096"/>
            <a:ext cx="3185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02633"/>
                </a:solidFill>
                <a:latin typeface="Calibri"/>
              </a:rPr>
              <a:t>02 Dec 2026 — 3.7 FTE short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80248" y="3063240"/>
            <a:ext cx="3514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9A8F"/>
                </a:solidFill>
                <a:latin typeface="Calibri"/>
              </a:rPr>
              <a:t>WEEKLY GAP TREND (NEXT 3 WKS)</a:t>
            </a:r>
          </a:p>
        </p:txBody>
      </p:sp>
      <p:sp>
        <p:nvSpPr>
          <p:cNvPr id="28" name="Oval 27"/>
          <p:cNvSpPr/>
          <p:nvPr/>
        </p:nvSpPr>
        <p:spPr>
          <a:xfrm>
            <a:off x="8080248" y="3447288"/>
            <a:ext cx="237744" cy="237744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185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02633"/>
                </a:solidFill>
                <a:latin typeface="Calibri"/>
              </a:rPr>
              <a:t>Week of 26 Oct — 2.6 FTE avg gap</a:t>
            </a:r>
          </a:p>
        </p:txBody>
      </p:sp>
      <p:sp>
        <p:nvSpPr>
          <p:cNvPr id="30" name="Oval 29"/>
          <p:cNvSpPr/>
          <p:nvPr/>
        </p:nvSpPr>
        <p:spPr>
          <a:xfrm>
            <a:off x="8080248" y="3831336"/>
            <a:ext cx="237744" cy="237744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09432" y="3813048"/>
            <a:ext cx="3185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02633"/>
                </a:solidFill>
                <a:latin typeface="Calibri"/>
              </a:rPr>
              <a:t>Week of 02 Nov — 2.5 FTE avg gap</a:t>
            </a:r>
          </a:p>
        </p:txBody>
      </p:sp>
      <p:sp>
        <p:nvSpPr>
          <p:cNvPr id="32" name="Oval 31"/>
          <p:cNvSpPr/>
          <p:nvPr/>
        </p:nvSpPr>
        <p:spPr>
          <a:xfrm>
            <a:off x="8080248" y="4215384"/>
            <a:ext cx="237744" cy="237744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09432" y="4197096"/>
            <a:ext cx="3185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02633"/>
                </a:solidFill>
                <a:latin typeface="Calibri"/>
              </a:rPr>
              <a:t>Week of 09 Nov — 2.5 FTE avg gap</a:t>
            </a:r>
          </a:p>
        </p:txBody>
      </p:sp>
      <p:sp>
        <p:nvSpPr>
          <p:cNvPr id="34" name="Oval 33"/>
          <p:cNvSpPr/>
          <p:nvPr/>
        </p:nvSpPr>
        <p:spPr>
          <a:xfrm>
            <a:off x="594360" y="533095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257800"/>
            <a:ext cx="10561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202633"/>
                </a:solidFill>
                <a:latin typeface="Calibri"/>
              </a:rPr>
              <a:t>This is a modest, fixable gap - not a crisis - but worth flagging now, with weeks of lead time, rather than discovering it the week service levels slip.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64739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B7D"/>
                </a:solidFill>
                <a:latin typeface="Calibri"/>
              </a:rPr>
              <a:t>Demand Forecasting &amp; Staffing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64240" y="647395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B7D"/>
                </a:solidFill>
                <a:latin typeface="Calibri"/>
              </a:rPr>
              <a:t>05 / 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91640"/>
            <a:ext cx="350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4B6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8160" y="1691640"/>
            <a:ext cx="350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4B6"/>
                </a:solidFill>
                <a:latin typeface="Calibri"/>
              </a:rPr>
              <a:t>WHAT TO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61960" y="1691640"/>
            <a:ext cx="350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4B6"/>
                </a:solidFill>
                <a:latin typeface="Calibri"/>
              </a:rPr>
              <a:t>EXPECTED OUTCOME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2057400"/>
            <a:ext cx="10972800" cy="0"/>
          </a:xfrm>
          <a:prstGeom prst="line">
            <a:avLst/>
          </a:prstGeom>
          <a:ln w="12700">
            <a:solidFill>
              <a:srgbClr val="2B3C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2194560"/>
            <a:ext cx="350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C4B6"/>
                </a:solidFill>
                <a:latin typeface="Calibri"/>
              </a:rPr>
              <a:t>Fix #1: Close the FTE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8160" y="2194560"/>
            <a:ext cx="350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Add overtime or a couple of flexible-shift agents — 42 days of lead time to plan it, not a same-week scramble.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1960" y="2194560"/>
            <a:ext cx="350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7DEE8"/>
                </a:solidFill>
                <a:latin typeface="Calibri"/>
              </a:rPr>
              <a:t>Closes the average 2.5-FTE shortfall before it hits service levels.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474720"/>
            <a:ext cx="350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C4B6"/>
                </a:solidFill>
                <a:latin typeface="Calibri"/>
              </a:rPr>
              <a:t>Fix #2: Watch the peak 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8160" y="3474720"/>
            <a:ext cx="350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Flag 18 Nov 2026 specifically for extra coverage.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1960" y="3474720"/>
            <a:ext cx="350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7DEE8"/>
                </a:solidFill>
                <a:latin typeface="Calibri"/>
              </a:rPr>
              <a:t>Avoids the single worst-staffed day in the horizon, 3.7 FTE short.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754880"/>
            <a:ext cx="350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C4B6"/>
                </a:solidFill>
                <a:latin typeface="Calibri"/>
              </a:rPr>
              <a:t>Next: Extend &amp; revisit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8160" y="4754880"/>
            <a:ext cx="350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Extend the model per LoB/channel, and revisit shrinkage assumptions quarterly.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1960" y="4754880"/>
            <a:ext cx="350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7DEE8"/>
                </a:solidFill>
                <a:latin typeface="Calibri"/>
              </a:rPr>
              <a:t>Sharper staffing allocation as the roster's tenure mix shifts over time.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355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C2D0"/>
                </a:solidFill>
                <a:latin typeface="Calibri"/>
              </a:rPr>
              <a:t>Data Analytics Consulting  |  Synthetic demo dataset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