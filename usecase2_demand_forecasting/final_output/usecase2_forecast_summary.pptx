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2788920"/>
            <a:ext cx="109728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Demand Forecasting &amp; Staffing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Use Case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58191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Both over- and under-staffing are expensive: idle capacity burns cost; a shortfall shows up directly in service levels and CSAT.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9992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The business question: based on real contact-volume history, how many agents do we actually need over the next several weeks, and does the current roster cover it?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441655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Objective: build a forecast grounded in the real patterns in the data - trend, seasonality, holidays, campaigns - validate it honestly, then convert it into a concrete FTE requirement the business can act 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508760"/>
            <a:ext cx="4023360" cy="39319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194560"/>
            <a:ext cx="3429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A forecast that just says “volume is going up” isn't actionable. A staffing plan that says “you'll be short 3.7 FTE on November 18th” gives the business weeks of lead time to actually do something about it - overtime, a flexible shift, or a deliberate decision to accept the risk.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3.8 yrs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Daily contact-volume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Channels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Lines of business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42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Days forecast forward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09067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1752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Daily contact volume by line of business and channel, with handle time, holiday and campaign flags - the real signals that drive the shape of demand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36850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1188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An agent roster: who we have today, their line of business, team lead/manager, tenure, weekly available hours, and real shrinkage % (not a flat assumption)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3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VOLUME SPLIT BY LINE OF BUSINESS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800600"/>
            <a:ext cx="3862882" cy="411480"/>
          </a:xfrm>
          <a:prstGeom prst="rect">
            <a:avLst/>
          </a:prstGeom>
          <a:solidFill>
            <a:srgbClr val="1B2A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57242" y="4800600"/>
            <a:ext cx="7018477" cy="41148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4360" y="5321808"/>
            <a:ext cx="128016" cy="12801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Broadband: 36%</a:t>
            </a:r>
          </a:p>
        </p:txBody>
      </p:sp>
      <p:sp>
        <p:nvSpPr>
          <p:cNvPr id="22" name="Oval 21"/>
          <p:cNvSpPr/>
          <p:nvPr/>
        </p:nvSpPr>
        <p:spPr>
          <a:xfrm>
            <a:off x="3108960" y="5321808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Postpaid Mobile: 64%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Approach &amp; Expected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4630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9A8F"/>
                </a:solidFill>
                <a:latin typeface="Calibri"/>
              </a:rPr>
              <a:t>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463040"/>
            <a:ext cx="3227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9A8F"/>
                </a:solidFill>
                <a:latin typeface="Calibri"/>
              </a:rPr>
              <a:t>OUTPUT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8096" y="1929384"/>
            <a:ext cx="0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68096" y="2697480"/>
            <a:ext cx="0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" y="3465576"/>
            <a:ext cx="0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68096" y="4233672"/>
            <a:ext cx="0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8096" y="5001768"/>
            <a:ext cx="0" cy="768096"/>
          </a:xfrm>
          <a:prstGeom prst="line">
            <a:avLst/>
          </a:prstGeom>
          <a:ln w="22225">
            <a:solidFill>
              <a:srgbClr val="DD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594360" y="1755648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176479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Load &amp; prepare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755648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02633"/>
                </a:solidFill>
                <a:latin typeface="Calibri"/>
              </a:rPr>
              <a:t>pandas loads 3.8 years of volume history + the roster; occupancy = 1 minus the roster's average shrinkage % (time lost to breaks/training), not a textbook 85% assumption.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755648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A ready-to-model daily volume series + a real occupancy figure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2523744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3288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Explore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523744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02633"/>
                </a:solidFill>
                <a:latin typeface="Calibri"/>
              </a:rPr>
              <a:t>statsmodels' seasonal_decompose splits the series into trend, weekly seasonality, and residual noise, so the real weekly rhythm (e.g. the Sunday dip) is confirmed visually before any model is trusted.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2523744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Confirms the series' real shape before trusting a model</a:t>
            </a:r>
          </a:p>
        </p:txBody>
      </p:sp>
      <p:sp>
        <p:nvSpPr>
          <p:cNvPr id="20" name="Oval 19"/>
          <p:cNvSpPr/>
          <p:nvPr/>
        </p:nvSpPr>
        <p:spPr>
          <a:xfrm>
            <a:off x="594360" y="3291840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3300984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Benchmark honestly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291840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02633"/>
                </a:solidFill>
                <a:latin typeface="Calibri"/>
              </a:rPr>
              <a:t>The naive baseline just repeats each weekday's volume from one week back; its holdout MAPE (mean absolute % error, scikit-learn) becomes the bar every real model must beat.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66760" y="3291840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A bar every candidate model must beat before it ships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" y="4059936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0690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Holt-Winters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4059936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02633"/>
                </a:solidFill>
                <a:latin typeface="Calibri"/>
              </a:rPr>
              <a:t>statsmodels' ExponentialSmoothing fits separate trend and weekly-seasonal components, then extrapolates both forward 42 days - a transparent formula, not a black box.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66760" y="4059936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18.8% MAPE — beats the 20.1% baseline</a:t>
            </a:r>
          </a:p>
        </p:txBody>
      </p:sp>
      <p:sp>
        <p:nvSpPr>
          <p:cNvPr id="28" name="Oval 27"/>
          <p:cNvSpPr/>
          <p:nvPr/>
        </p:nvSpPr>
        <p:spPr>
          <a:xfrm>
            <a:off x="594360" y="4828032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837176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Volume -&gt; FTE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4828032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02633"/>
                </a:solidFill>
                <a:latin typeface="Calibri"/>
              </a:rPr>
              <a:t>required_hours = volume x handle_time / 3600; required_FTE = hours / (shift_hours x occupancy) - then compared day-by-day against the roster's available hours.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66760" y="4828032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The exact day(s) staffing runs short, and by how much</a:t>
            </a:r>
          </a:p>
        </p:txBody>
      </p:sp>
      <p:sp>
        <p:nvSpPr>
          <p:cNvPr id="32" name="Oval 31"/>
          <p:cNvSpPr/>
          <p:nvPr/>
        </p:nvSpPr>
        <p:spPr>
          <a:xfrm>
            <a:off x="594360" y="5596128"/>
            <a:ext cx="347472" cy="34747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60527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Publish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5596128"/>
            <a:ext cx="4846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02633"/>
                </a:solidFill>
                <a:latin typeface="Calibri"/>
              </a:rPr>
              <a:t>openpyxl writes one workbook (forecast + an Analysis sheet with native Excel charts); python-pptx then re-reads that SAME file to build this deck.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6760" y="5596128"/>
            <a:ext cx="3227832" cy="676656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1B2A4A"/>
                </a:solidFill>
                <a:latin typeface="Calibri"/>
              </a:rPr>
              <a:t>A client-ready package, numbers always in sync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Key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18.8%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Holdout MAPE (vs 20.1% baseline)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36/42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Days short-staffed over the horizon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28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Avg required FTE over the horizon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25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Available FTE (current roster)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REQUIRED VS AVAILABLE FTE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429000"/>
            <a:ext cx="1841150" cy="320040"/>
          </a:xfrm>
          <a:prstGeom prst="rect">
            <a:avLst/>
          </a:prstGeom>
          <a:solidFill>
            <a:srgbClr val="E05A4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35510" y="3429000"/>
            <a:ext cx="1673193" cy="32004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895344"/>
            <a:ext cx="128016" cy="12801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3858768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Required: 52%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4206240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169664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Available: 48%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7304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TOP 5 SHORT-STAFFED DAYS</a:t>
            </a:r>
          </a:p>
        </p:txBody>
      </p:sp>
      <p:sp>
        <p:nvSpPr>
          <p:cNvPr id="21" name="Oval 20"/>
          <p:cNvSpPr/>
          <p:nvPr/>
        </p:nvSpPr>
        <p:spPr>
          <a:xfrm>
            <a:off x="4337304" y="3438144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9912" y="3410712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18 Nov 2026 — 3.7 FTE short</a:t>
            </a:r>
          </a:p>
        </p:txBody>
      </p:sp>
      <p:sp>
        <p:nvSpPr>
          <p:cNvPr id="23" name="Oval 22"/>
          <p:cNvSpPr/>
          <p:nvPr/>
        </p:nvSpPr>
        <p:spPr>
          <a:xfrm>
            <a:off x="4337304" y="3767328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9912" y="3739896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25 Nov 2026 — 3.7 FTE short</a:t>
            </a:r>
          </a:p>
        </p:txBody>
      </p:sp>
      <p:sp>
        <p:nvSpPr>
          <p:cNvPr id="25" name="Oval 24"/>
          <p:cNvSpPr/>
          <p:nvPr/>
        </p:nvSpPr>
        <p:spPr>
          <a:xfrm>
            <a:off x="4337304" y="4096512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9912" y="4069080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02 Dec 2026 — 3.7 FTE short</a:t>
            </a:r>
          </a:p>
        </p:txBody>
      </p:sp>
      <p:sp>
        <p:nvSpPr>
          <p:cNvPr id="27" name="Oval 26"/>
          <p:cNvSpPr/>
          <p:nvPr/>
        </p:nvSpPr>
        <p:spPr>
          <a:xfrm>
            <a:off x="4337304" y="4425696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9912" y="4398264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28 Oct 2026 — 3.6 FTE short</a:t>
            </a:r>
          </a:p>
        </p:txBody>
      </p:sp>
      <p:sp>
        <p:nvSpPr>
          <p:cNvPr id="29" name="Oval 28"/>
          <p:cNvSpPr/>
          <p:nvPr/>
        </p:nvSpPr>
        <p:spPr>
          <a:xfrm>
            <a:off x="4337304" y="4754880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9912" y="4727448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04 Nov 2026 — 3.6 FTE short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80248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WEEKLY GAP TREND (NEXT 5 WKS)</a:t>
            </a:r>
          </a:p>
        </p:txBody>
      </p:sp>
      <p:sp>
        <p:nvSpPr>
          <p:cNvPr id="32" name="Oval 31"/>
          <p:cNvSpPr/>
          <p:nvPr/>
        </p:nvSpPr>
        <p:spPr>
          <a:xfrm>
            <a:off x="8080248" y="3438144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2856" y="3410712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26 Oct — 2.6 FTE avg gap</a:t>
            </a:r>
          </a:p>
        </p:txBody>
      </p:sp>
      <p:sp>
        <p:nvSpPr>
          <p:cNvPr id="34" name="Oval 33"/>
          <p:cNvSpPr/>
          <p:nvPr/>
        </p:nvSpPr>
        <p:spPr>
          <a:xfrm>
            <a:off x="8080248" y="3767328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2856" y="3739896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02 Nov — 2.5 FTE avg gap</a:t>
            </a:r>
          </a:p>
        </p:txBody>
      </p:sp>
      <p:sp>
        <p:nvSpPr>
          <p:cNvPr id="36" name="Oval 35"/>
          <p:cNvSpPr/>
          <p:nvPr/>
        </p:nvSpPr>
        <p:spPr>
          <a:xfrm>
            <a:off x="8080248" y="4096512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2856" y="4069080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09 Nov — 2.5 FTE avg gap</a:t>
            </a:r>
          </a:p>
        </p:txBody>
      </p:sp>
      <p:sp>
        <p:nvSpPr>
          <p:cNvPr id="38" name="Oval 37"/>
          <p:cNvSpPr/>
          <p:nvPr/>
        </p:nvSpPr>
        <p:spPr>
          <a:xfrm>
            <a:off x="8080248" y="4425696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72856" y="4398264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16 Nov — 2.5 FTE avg gap</a:t>
            </a:r>
          </a:p>
        </p:txBody>
      </p:sp>
      <p:sp>
        <p:nvSpPr>
          <p:cNvPr id="40" name="Oval 39"/>
          <p:cNvSpPr/>
          <p:nvPr/>
        </p:nvSpPr>
        <p:spPr>
          <a:xfrm>
            <a:off x="8080248" y="4754880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2856" y="4727448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Week of 23 Nov — 2.5 FTE avg gap</a:t>
            </a:r>
          </a:p>
        </p:txBody>
      </p:sp>
      <p:sp>
        <p:nvSpPr>
          <p:cNvPr id="42" name="Oval 41"/>
          <p:cNvSpPr/>
          <p:nvPr/>
        </p:nvSpPr>
        <p:spPr>
          <a:xfrm>
            <a:off x="594360" y="55138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440680"/>
            <a:ext cx="10561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This is a modest, fixable gap - not a crisis - but worth flagging now, with weeks of lead time, rather than discovering it the week service levels slip.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91640"/>
            <a:ext cx="253691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32439" y="1691640"/>
            <a:ext cx="46510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84611" y="1691640"/>
            <a:ext cx="338254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EXPECTED OUTCOME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2057400"/>
            <a:ext cx="10972800" cy="0"/>
          </a:xfrm>
          <a:prstGeom prst="line">
            <a:avLst/>
          </a:prstGeom>
          <a:ln w="12700">
            <a:solidFill>
              <a:srgbClr val="2B3C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219456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Fix #1: Close the FTE gap (86% of days)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2439" y="219456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Short-staffed on 86% of the next 42 days, averaging 2.5 FTE (9% of required headcount) — add overtime or flexible-shift agents, prioritizing Broadband coverage since it alone drives 36% of total volume.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4611" y="219456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Closes the gap with 42 days of lead time, protecting the LoB carrying most of the service-level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Fix #2: Watch the peak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2439" y="347472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18 Nov 2026 is the single worst day, 3.7 FTE short — forecast volume peaks that day with no spare buffer.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4611" y="347472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Proactive scheduling avoids the highest service-level-risk day in the horizon.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75488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Fix #3: Rebalance the weekly schedule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2439" y="475488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The roster runs a surplus on Sunday (-1.2 FTE over) but is short every other day, worst on Wednesday (3.7 FTE avg) — shift some of that Sunday coverage into the weekday shifts that need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4611" y="475488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Closes the weekday shortfall using capacity already on the roster, not new hires.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355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2D0"/>
                </a:solidFill>
                <a:latin typeface="Calibri"/>
              </a:rPr>
              <a:t>Data Analytics Consulting  |  Synthetic demo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